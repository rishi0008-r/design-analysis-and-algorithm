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introduces Depth First Search, usually shortened to DFS. It is one of the two core ways to walk through a graph or tree, and it shows up in interviews, compilers, puzzle solvers and many everyday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DFS in one sentence: pick a direction and keep going until you cannot, then back up and try another direction. Three ideas make it work: a stack to remember where you came from, a visited set so you never repeat yourself, and backtracking when you hit a dead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slowly. Visit marks the node. Go deeper picks any unvisited neighbor and repeats. Backtrack happens when every neighbor is already visited. The search finishes when nothing reachable is left. The next slide shows this on a real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numbered badges on the graph. Start at A, go to B, then D. D has no unvisited neighbors, so back up to B and visit E. E is also a dead end, so back up to B and then A, and finally go down the right side to C and F. This assumes neighbors are tried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version. The function marks the node, prints it, then calls itself on every neighbor that has not been visited. There is no explicit base case: when all neighbors are visited the loop ends and the function returns, which is the backtracking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iterative version does the same job with a list used as a stack. Pop a node, skip it if it was already visited, otherwise mark it and push its neighbors. Python caps recursion depth at roughly a thousand calls by default, so this form is safer for very deep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is linear in the size of the graph: each vertex is visited once and each edge is examined once, giving O(V plus E). Space is O(V) in the worst case because of the visited set and the stack or recursion depth, for example on a long chain of nodes. With an adjacency matrix instead of adjacency lists the time becomes O(V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BFS and DFS cost the same in time, so the choice is about what you need. If you want the fewest hops in an unweighted graph, use BFS. If you want to explore every possibility, detect cycles, or produce an ordering of dependencies, DFS is the natural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DFS is a building block rather than an end in itself. Cycle detection and topological sorting rely on tracking the recursion path, which DFS gives for free. Backtracking puzzles such as Sudoku are really DFS over a tree of possible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ideas to remember: go deep then backtrack, track what you have visited, and expect linear time. A good way to cement it is to implement DFS on a small grid or adjacency list yourself and trace the visit order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A tree-shaped graph with the first three nodes highlighted along a path from the root downward">    </p:cNvPr>
          <p:cNvPicPr>
            <a:picLocks noChangeAspect="1"/>
          </p:cNvPicPr>
          <p:nvPr/>
        </p:nvPicPr>
        <p:blipFill>
          <a:blip r:embed="rId1"/>
          <a:srcRect l="0" r="0" t="0" b="0"/>
          <a:stretch/>
        </p:blipFill>
        <p:spPr>
          <a:xfrm>
            <a:off x="8331200" y="812800"/>
            <a:ext cx="3048000" cy="304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5B83D"/>
                </a:solidFill>
                <a:latin typeface="DM Sans" pitchFamily="34" charset="0"/>
                <a:ea typeface="DM Sans" pitchFamily="34" charset="-122"/>
                <a:cs typeface="DM Sans" pitchFamily="34" charset="-120"/>
              </a:rPr>
              <a:t>DATA STRUCTURES AND ALGORITHMS</a:t>
            </a:r>
            <a:endParaRPr lang="en-US" sz="1200" dirty="0"/>
          </a:p>
        </p:txBody>
      </p:sp>
      <p:sp>
        <p:nvSpPr>
          <p:cNvPr id="4" name="Text 1"/>
          <p:cNvSpPr/>
          <p:nvPr>
            <p:ph type="title"/>
          </p:nvPr>
        </p:nvSpPr>
        <p:spPr>
          <a:xfrm>
            <a:off x="812800" y="426472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E"/>
                </a:solidFill>
                <a:latin typeface="DM Sans" pitchFamily="34" charset="0"/>
                <a:ea typeface="DM Sans" pitchFamily="34" charset="-122"/>
                <a:cs typeface="DM Sans" pitchFamily="34" charset="-120"/>
              </a:rPr>
              <a:t>Depth First Search</a:t>
            </a:r>
            <a:endParaRPr lang="en-US" sz="6000" dirty="0"/>
          </a:p>
        </p:txBody>
      </p:sp>
      <p:sp>
        <p:nvSpPr>
          <p:cNvPr id="5" name="Text 2"/>
          <p:cNvSpPr/>
          <p:nvPr/>
        </p:nvSpPr>
        <p:spPr>
          <a:xfrm>
            <a:off x="812800" y="521722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6C2D1"/>
                </a:solidFill>
                <a:latin typeface="DM Sans" pitchFamily="34" charset="0"/>
                <a:ea typeface="DM Sans" pitchFamily="34" charset="-122"/>
                <a:cs typeface="DM Sans" pitchFamily="34" charset="-120"/>
              </a:rPr>
              <a:t>Go deep first, backtrack when stuck.</a:t>
            </a:r>
            <a:endParaRPr lang="en-US" sz="2200" dirty="0"/>
          </a:p>
        </p:txBody>
      </p:sp>
      <p:sp>
        <p:nvSpPr>
          <p:cNvPr id="6"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8A6BA"/>
                </a:solidFill>
                <a:latin typeface="DM Sans" pitchFamily="34" charset="0"/>
                <a:ea typeface="DM Sans" pitchFamily="34" charset="-122"/>
                <a:cs typeface="DM Sans" pitchFamily="34" charset="-120"/>
              </a:rPr>
              <a:t>A graph traversal algorithm</a:t>
            </a:r>
            <a:endParaRPr lang="en-US" sz="1600" dirty="0"/>
          </a:p>
        </p:txBody>
      </p:sp>
      <p:sp>
        <p:nvSpPr>
          <p:cNvPr id="7" name="Text 4"/>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8A6BA">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DM Sans" pitchFamily="34" charset="0"/>
                <a:ea typeface="DM Sans" pitchFamily="34" charset="-122"/>
                <a:cs typeface="DM Sans" pitchFamily="34" charset="-120"/>
              </a:rPr>
              <a:t>OVERVIEW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What is DFS</a:t>
            </a:r>
            <a:endParaRPr lang="en-US" sz="3600" dirty="0"/>
          </a:p>
        </p:txBody>
      </p:sp>
      <p:sp>
        <p:nvSpPr>
          <p:cNvPr id="4" name="Text 2"/>
          <p:cNvSpPr/>
          <p:nvPr/>
        </p:nvSpPr>
        <p:spPr>
          <a:xfrm>
            <a:off x="812800" y="1935411"/>
            <a:ext cx="9483725"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4213D"/>
                </a:solidFill>
                <a:latin typeface="DM Sans" pitchFamily="34" charset="0"/>
                <a:ea typeface="DM Sans" pitchFamily="34" charset="-122"/>
                <a:cs typeface="DM Sans" pitchFamily="34" charset="-120"/>
              </a:rPr>
              <a:t>DFS explores a graph by following one path as far as it can, then backtracking to try the next one.</a:t>
            </a:r>
            <a:endParaRPr lang="en-US" sz="2200" dirty="0"/>
          </a:p>
        </p:txBody>
      </p:sp>
      <p:sp>
        <p:nvSpPr>
          <p:cNvPr id="5" name="Shape 3"/>
          <p:cNvSpPr/>
          <p:nvPr/>
        </p:nvSpPr>
        <p:spPr>
          <a:xfrm>
            <a:off x="819150" y="3000921"/>
            <a:ext cx="3373934" cy="1785541"/>
          </a:xfrm>
          <a:prstGeom prst="roundRect">
            <a:avLst>
              <a:gd name="adj" fmla="val 5335"/>
            </a:avLst>
          </a:prstGeom>
          <a:solidFill>
            <a:srgbClr val="FFFDF8"/>
          </a:solidFill>
          <a:ln w="12700">
            <a:solidFill>
              <a:srgbClr val="E2DFD3"/>
            </a:solidFill>
            <a:prstDash val="solid"/>
          </a:ln>
        </p:spPr>
      </p:sp>
      <p:sp>
        <p:nvSpPr>
          <p:cNvPr id="6" name="Text 4"/>
          <p:cNvSpPr/>
          <p:nvPr/>
        </p:nvSpPr>
        <p:spPr>
          <a:xfrm>
            <a:off x="1079500" y="3261271"/>
            <a:ext cx="293883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766E"/>
                </a:solidFill>
                <a:latin typeface="DM Sans" pitchFamily="34" charset="0"/>
                <a:ea typeface="DM Sans" pitchFamily="34" charset="-122"/>
                <a:cs typeface="DM Sans" pitchFamily="34" charset="-120"/>
              </a:rPr>
              <a:t>Uses a stack</a:t>
            </a:r>
            <a:endParaRPr lang="en-US" sz="2200" dirty="0"/>
          </a:p>
        </p:txBody>
      </p:sp>
      <p:sp>
        <p:nvSpPr>
          <p:cNvPr id="7" name="Text 5"/>
          <p:cNvSpPr/>
          <p:nvPr/>
        </p:nvSpPr>
        <p:spPr>
          <a:xfrm>
            <a:off x="1079500" y="3672731"/>
            <a:ext cx="2938831"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Either the call stack through recursion, or an explicit stack you manage yourself.</a:t>
            </a:r>
            <a:endParaRPr lang="en-US" sz="1600" dirty="0"/>
          </a:p>
        </p:txBody>
      </p:sp>
      <p:sp>
        <p:nvSpPr>
          <p:cNvPr id="8" name="Shape 6"/>
          <p:cNvSpPr/>
          <p:nvPr/>
        </p:nvSpPr>
        <p:spPr>
          <a:xfrm>
            <a:off x="4408984" y="3000921"/>
            <a:ext cx="3373983" cy="1785541"/>
          </a:xfrm>
          <a:prstGeom prst="roundRect">
            <a:avLst>
              <a:gd name="adj" fmla="val 5335"/>
            </a:avLst>
          </a:prstGeom>
          <a:solidFill>
            <a:srgbClr val="FFFDF8"/>
          </a:solidFill>
          <a:ln w="12700">
            <a:solidFill>
              <a:srgbClr val="E2DFD3"/>
            </a:solidFill>
            <a:prstDash val="solid"/>
          </a:ln>
        </p:spPr>
      </p:sp>
      <p:sp>
        <p:nvSpPr>
          <p:cNvPr id="9" name="Text 7"/>
          <p:cNvSpPr/>
          <p:nvPr/>
        </p:nvSpPr>
        <p:spPr>
          <a:xfrm>
            <a:off x="4669334" y="3261271"/>
            <a:ext cx="293888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766E"/>
                </a:solidFill>
                <a:latin typeface="DM Sans" pitchFamily="34" charset="0"/>
                <a:ea typeface="DM Sans" pitchFamily="34" charset="-122"/>
                <a:cs typeface="DM Sans" pitchFamily="34" charset="-120"/>
              </a:rPr>
              <a:t>Marks visited</a:t>
            </a:r>
            <a:endParaRPr lang="en-US" sz="2200" dirty="0"/>
          </a:p>
        </p:txBody>
      </p:sp>
      <p:sp>
        <p:nvSpPr>
          <p:cNvPr id="10" name="Text 8"/>
          <p:cNvSpPr/>
          <p:nvPr/>
        </p:nvSpPr>
        <p:spPr>
          <a:xfrm>
            <a:off x="4669334" y="3672731"/>
            <a:ext cx="293888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Remembering seen nodes stops the search from looping forever in a cycle.</a:t>
            </a:r>
            <a:endParaRPr lang="en-US" sz="1600" dirty="0"/>
          </a:p>
        </p:txBody>
      </p:sp>
      <p:sp>
        <p:nvSpPr>
          <p:cNvPr id="11" name="Shape 9"/>
          <p:cNvSpPr/>
          <p:nvPr/>
        </p:nvSpPr>
        <p:spPr>
          <a:xfrm>
            <a:off x="7998867" y="3000921"/>
            <a:ext cx="3373983" cy="1785541"/>
          </a:xfrm>
          <a:prstGeom prst="roundRect">
            <a:avLst>
              <a:gd name="adj" fmla="val 5335"/>
            </a:avLst>
          </a:prstGeom>
          <a:solidFill>
            <a:srgbClr val="FFFDF8"/>
          </a:solidFill>
          <a:ln w="12700">
            <a:solidFill>
              <a:srgbClr val="E2DFD3"/>
            </a:solidFill>
            <a:prstDash val="solid"/>
          </a:ln>
        </p:spPr>
      </p:sp>
      <p:sp>
        <p:nvSpPr>
          <p:cNvPr id="12" name="Text 10"/>
          <p:cNvSpPr/>
          <p:nvPr/>
        </p:nvSpPr>
        <p:spPr>
          <a:xfrm>
            <a:off x="8259217" y="3261271"/>
            <a:ext cx="293888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766E"/>
                </a:solidFill>
                <a:latin typeface="DM Sans" pitchFamily="34" charset="0"/>
                <a:ea typeface="DM Sans" pitchFamily="34" charset="-122"/>
                <a:cs typeface="DM Sans" pitchFamily="34" charset="-120"/>
              </a:rPr>
              <a:t>Backtracks</a:t>
            </a:r>
            <a:endParaRPr lang="en-US" sz="2200" dirty="0"/>
          </a:p>
        </p:txBody>
      </p:sp>
      <p:sp>
        <p:nvSpPr>
          <p:cNvPr id="13" name="Text 11"/>
          <p:cNvSpPr/>
          <p:nvPr/>
        </p:nvSpPr>
        <p:spPr>
          <a:xfrm>
            <a:off x="8259217" y="3672731"/>
            <a:ext cx="293888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At a dead end it steps back to the last node that still has unexplored neighbors.</a:t>
            </a:r>
            <a:endParaRPr lang="en-US" sz="1600" dirty="0"/>
          </a:p>
        </p:txBody>
      </p:sp>
      <p:sp>
        <p:nvSpPr>
          <p:cNvPr id="14" name="Text 1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Depth First Search</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2 / 10</a:t>
            </a:r>
            <a:endParaRPr lang="en-US" sz="1200" dirty="0"/>
          </a:p>
        </p:txBody>
      </p:sp>
      <p:sp>
        <p:nvSpPr>
          <p:cNvPr id="16" name="Text 14"/>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DM Sans" pitchFamily="34" charset="0"/>
                <a:ea typeface="DM Sans" pitchFamily="34" charset="-122"/>
                <a:cs typeface="DM Sans" pitchFamily="34" charset="-120"/>
              </a:rPr>
              <a:t>ALGORITHM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How it works</a:t>
            </a:r>
            <a:endParaRPr lang="en-US" sz="3600" dirty="0"/>
          </a:p>
        </p:txBody>
      </p:sp>
      <p:sp>
        <p:nvSpPr>
          <p:cNvPr id="4" name="Shape 2"/>
          <p:cNvSpPr/>
          <p:nvPr/>
        </p:nvSpPr>
        <p:spPr>
          <a:xfrm>
            <a:off x="819150" y="1941761"/>
            <a:ext cx="2476500" cy="2313831"/>
          </a:xfrm>
          <a:prstGeom prst="roundRect">
            <a:avLst>
              <a:gd name="adj" fmla="val 4117"/>
            </a:avLst>
          </a:prstGeom>
          <a:solidFill>
            <a:srgbClr val="FFFDF8"/>
          </a:solidFill>
          <a:ln w="12700">
            <a:solidFill>
              <a:srgbClr val="E2DFD3"/>
            </a:solidFill>
            <a:prstDash val="solid"/>
          </a:ln>
        </p:spPr>
      </p:sp>
      <p:sp>
        <p:nvSpPr>
          <p:cNvPr id="5" name="Text 3"/>
          <p:cNvSpPr/>
          <p:nvPr/>
        </p:nvSpPr>
        <p:spPr>
          <a:xfrm>
            <a:off x="1054100" y="2176711"/>
            <a:ext cx="2066798"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F766E"/>
                </a:solidFill>
                <a:latin typeface="DM Sans" pitchFamily="34" charset="0"/>
                <a:ea typeface="DM Sans" pitchFamily="34" charset="-122"/>
                <a:cs typeface="DM Sans" pitchFamily="34" charset="-120"/>
              </a:rPr>
              <a:t>1</a:t>
            </a:r>
            <a:endParaRPr lang="en-US" sz="3600" dirty="0"/>
          </a:p>
        </p:txBody>
      </p:sp>
      <p:sp>
        <p:nvSpPr>
          <p:cNvPr id="6" name="Text 4"/>
          <p:cNvSpPr/>
          <p:nvPr/>
        </p:nvSpPr>
        <p:spPr>
          <a:xfrm>
            <a:off x="1054100" y="275580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Visit</a:t>
            </a:r>
            <a:endParaRPr lang="en-US" sz="2200" dirty="0"/>
          </a:p>
        </p:txBody>
      </p:sp>
      <p:sp>
        <p:nvSpPr>
          <p:cNvPr id="7" name="Text 5"/>
          <p:cNvSpPr/>
          <p:nvPr/>
        </p:nvSpPr>
        <p:spPr>
          <a:xfrm>
            <a:off x="1054100" y="3167261"/>
            <a:ext cx="206679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Mark the current node as visited.</a:t>
            </a:r>
            <a:endParaRPr lang="en-US" sz="1600" dirty="0"/>
          </a:p>
        </p:txBody>
      </p:sp>
      <p:sp>
        <p:nvSpPr>
          <p:cNvPr id="8" name="Shape 6"/>
          <p:cNvSpPr/>
          <p:nvPr/>
        </p:nvSpPr>
        <p:spPr>
          <a:xfrm>
            <a:off x="3511550" y="1941761"/>
            <a:ext cx="2476500" cy="2313831"/>
          </a:xfrm>
          <a:prstGeom prst="roundRect">
            <a:avLst>
              <a:gd name="adj" fmla="val 4117"/>
            </a:avLst>
          </a:prstGeom>
          <a:solidFill>
            <a:srgbClr val="FFFDF8"/>
          </a:solidFill>
          <a:ln w="12700">
            <a:solidFill>
              <a:srgbClr val="E2DFD3"/>
            </a:solidFill>
            <a:prstDash val="solid"/>
          </a:ln>
        </p:spPr>
      </p:sp>
      <p:sp>
        <p:nvSpPr>
          <p:cNvPr id="9" name="Text 7"/>
          <p:cNvSpPr/>
          <p:nvPr/>
        </p:nvSpPr>
        <p:spPr>
          <a:xfrm>
            <a:off x="3746500" y="2176711"/>
            <a:ext cx="2066798"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F766E"/>
                </a:solidFill>
                <a:latin typeface="DM Sans" pitchFamily="34" charset="0"/>
                <a:ea typeface="DM Sans" pitchFamily="34" charset="-122"/>
                <a:cs typeface="DM Sans" pitchFamily="34" charset="-120"/>
              </a:rPr>
              <a:t>2</a:t>
            </a:r>
            <a:endParaRPr lang="en-US" sz="3600" dirty="0"/>
          </a:p>
        </p:txBody>
      </p:sp>
      <p:sp>
        <p:nvSpPr>
          <p:cNvPr id="10" name="Text 8"/>
          <p:cNvSpPr/>
          <p:nvPr/>
        </p:nvSpPr>
        <p:spPr>
          <a:xfrm>
            <a:off x="3746500" y="275580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Go deeper</a:t>
            </a:r>
            <a:endParaRPr lang="en-US" sz="2200" dirty="0"/>
          </a:p>
        </p:txBody>
      </p:sp>
      <p:sp>
        <p:nvSpPr>
          <p:cNvPr id="11" name="Text 9"/>
          <p:cNvSpPr/>
          <p:nvPr/>
        </p:nvSpPr>
        <p:spPr>
          <a:xfrm>
            <a:off x="3746500" y="3167261"/>
            <a:ext cx="206679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Move to an unvisited neighbor and repeat.</a:t>
            </a:r>
            <a:endParaRPr lang="en-US" sz="1600" dirty="0"/>
          </a:p>
        </p:txBody>
      </p:sp>
      <p:sp>
        <p:nvSpPr>
          <p:cNvPr id="12" name="Shape 10"/>
          <p:cNvSpPr/>
          <p:nvPr/>
        </p:nvSpPr>
        <p:spPr>
          <a:xfrm>
            <a:off x="6203950" y="1941761"/>
            <a:ext cx="2476500" cy="2313831"/>
          </a:xfrm>
          <a:prstGeom prst="roundRect">
            <a:avLst>
              <a:gd name="adj" fmla="val 4117"/>
            </a:avLst>
          </a:prstGeom>
          <a:solidFill>
            <a:srgbClr val="FFFDF8"/>
          </a:solidFill>
          <a:ln w="12700">
            <a:solidFill>
              <a:srgbClr val="E2DFD3"/>
            </a:solidFill>
            <a:prstDash val="solid"/>
          </a:ln>
        </p:spPr>
      </p:sp>
      <p:sp>
        <p:nvSpPr>
          <p:cNvPr id="13" name="Text 11"/>
          <p:cNvSpPr/>
          <p:nvPr/>
        </p:nvSpPr>
        <p:spPr>
          <a:xfrm>
            <a:off x="6438900" y="2176711"/>
            <a:ext cx="2066798"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F766E"/>
                </a:solidFill>
                <a:latin typeface="DM Sans" pitchFamily="34" charset="0"/>
                <a:ea typeface="DM Sans" pitchFamily="34" charset="-122"/>
                <a:cs typeface="DM Sans" pitchFamily="34" charset="-120"/>
              </a:rPr>
              <a:t>3</a:t>
            </a:r>
            <a:endParaRPr lang="en-US" sz="3600" dirty="0"/>
          </a:p>
        </p:txBody>
      </p:sp>
      <p:sp>
        <p:nvSpPr>
          <p:cNvPr id="14" name="Text 12"/>
          <p:cNvSpPr/>
          <p:nvPr/>
        </p:nvSpPr>
        <p:spPr>
          <a:xfrm>
            <a:off x="6438900" y="275580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Backtrack</a:t>
            </a:r>
            <a:endParaRPr lang="en-US" sz="2200" dirty="0"/>
          </a:p>
        </p:txBody>
      </p:sp>
      <p:sp>
        <p:nvSpPr>
          <p:cNvPr id="15" name="Text 13"/>
          <p:cNvSpPr/>
          <p:nvPr/>
        </p:nvSpPr>
        <p:spPr>
          <a:xfrm>
            <a:off x="6438900" y="3167261"/>
            <a:ext cx="206679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With no unvisited neighbors left, return to the previous node.</a:t>
            </a:r>
            <a:endParaRPr lang="en-US" sz="1600" dirty="0"/>
          </a:p>
        </p:txBody>
      </p:sp>
      <p:sp>
        <p:nvSpPr>
          <p:cNvPr id="16" name="Shape 14"/>
          <p:cNvSpPr/>
          <p:nvPr/>
        </p:nvSpPr>
        <p:spPr>
          <a:xfrm>
            <a:off x="8896350" y="1941761"/>
            <a:ext cx="2476500" cy="2313831"/>
          </a:xfrm>
          <a:prstGeom prst="roundRect">
            <a:avLst>
              <a:gd name="adj" fmla="val 4117"/>
            </a:avLst>
          </a:prstGeom>
          <a:solidFill>
            <a:srgbClr val="FFFDF8"/>
          </a:solidFill>
          <a:ln w="12700">
            <a:solidFill>
              <a:srgbClr val="E2DFD3"/>
            </a:solidFill>
            <a:prstDash val="solid"/>
          </a:ln>
        </p:spPr>
      </p:sp>
      <p:sp>
        <p:nvSpPr>
          <p:cNvPr id="17" name="Text 15"/>
          <p:cNvSpPr/>
          <p:nvPr/>
        </p:nvSpPr>
        <p:spPr>
          <a:xfrm>
            <a:off x="9131300" y="2176711"/>
            <a:ext cx="2066798"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F766E"/>
                </a:solidFill>
                <a:latin typeface="DM Sans" pitchFamily="34" charset="0"/>
                <a:ea typeface="DM Sans" pitchFamily="34" charset="-122"/>
                <a:cs typeface="DM Sans" pitchFamily="34" charset="-120"/>
              </a:rPr>
              <a:t>4</a:t>
            </a:r>
            <a:endParaRPr lang="en-US" sz="3600" dirty="0"/>
          </a:p>
        </p:txBody>
      </p:sp>
      <p:sp>
        <p:nvSpPr>
          <p:cNvPr id="18" name="Text 16"/>
          <p:cNvSpPr/>
          <p:nvPr/>
        </p:nvSpPr>
        <p:spPr>
          <a:xfrm>
            <a:off x="9131300" y="275580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Finish</a:t>
            </a:r>
            <a:endParaRPr lang="en-US" sz="2200" dirty="0"/>
          </a:p>
        </p:txBody>
      </p:sp>
      <p:sp>
        <p:nvSpPr>
          <p:cNvPr id="19" name="Text 17"/>
          <p:cNvSpPr/>
          <p:nvPr/>
        </p:nvSpPr>
        <p:spPr>
          <a:xfrm>
            <a:off x="9131300" y="3167261"/>
            <a:ext cx="206679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Stop once every reachable node has been visited.</a:t>
            </a:r>
            <a:endParaRPr lang="en-US" sz="1600" dirty="0"/>
          </a:p>
        </p:txBody>
      </p:sp>
      <p:sp>
        <p:nvSpPr>
          <p:cNvPr id="20" name="Text 18"/>
          <p:cNvSpPr/>
          <p:nvPr/>
        </p:nvSpPr>
        <p:spPr>
          <a:xfrm>
            <a:off x="812800" y="4566741"/>
            <a:ext cx="91567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Rule of thumb: always prefer going deeper before going wider.</a:t>
            </a:r>
            <a:endParaRPr lang="en-US" sz="1600" dirty="0"/>
          </a:p>
        </p:txBody>
      </p:sp>
      <p:sp>
        <p:nvSpPr>
          <p:cNvPr id="21" name="Text 1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Depth First Search</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3 / 10</a:t>
            </a:r>
            <a:endParaRPr lang="en-US" sz="1200" dirty="0"/>
          </a:p>
        </p:txBody>
      </p:sp>
      <p:sp>
        <p:nvSpPr>
          <p:cNvPr id="23" name="Text 21"/>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pic>
        <p:nvPicPr>
          <p:cNvPr id="2" name="Image 0" descr="A graph with six nodes A to F. A connects to B and C. B connects to D and E. C connects to F.">    </p:cNvPr>
          <p:cNvPicPr>
            <a:picLocks noChangeAspect="1"/>
          </p:cNvPicPr>
          <p:nvPr/>
        </p:nvPicPr>
        <p:blipFill>
          <a:blip r:embed="rId1"/>
          <a:srcRect l="0" r="0" t="0" b="0"/>
          <a:stretch/>
        </p:blipFill>
        <p:spPr>
          <a:xfrm>
            <a:off x="6350000" y="1270000"/>
            <a:ext cx="5029200" cy="4064000"/>
          </a:xfrm>
          <a:prstGeom prst="rect">
            <a:avLst/>
          </a:prstGeom>
        </p:spPr>
      </p:pic>
      <p:sp>
        <p:nvSpPr>
          <p:cNvPr id="3" name="Text 0"/>
          <p:cNvSpPr/>
          <p:nvPr/>
        </p:nvSpPr>
        <p:spPr>
          <a:xfrm>
            <a:off x="8534400" y="1473200"/>
            <a:ext cx="660400" cy="634454"/>
          </a:xfrm>
          <a:prstGeom prst="rect">
            <a:avLst/>
          </a:prstGeom>
          <a:noFill/>
          <a:ln/>
        </p:spPr>
        <p:txBody>
          <a:bodyPr wrap="square" lIns="0" tIns="0" rIns="0" bIns="0" rtlCol="0" anchor="t">
            <a:normAutofit/>
          </a:bodyPr>
          <a:lstStyle/>
          <a:p>
            <a:pPr algn="ctr" indent="0" marL="0">
              <a:lnSpc>
                <a:spcPts val="4796"/>
              </a:lnSpc>
              <a:buNone/>
            </a:pPr>
            <a:r>
              <a:rPr lang="en-US" sz="2200" b="1" dirty="0">
                <a:solidFill>
                  <a:srgbClr val="F6F4EE"/>
                </a:solidFill>
                <a:latin typeface="DM Sans" pitchFamily="34" charset="0"/>
                <a:ea typeface="DM Sans" pitchFamily="34" charset="-122"/>
                <a:cs typeface="DM Sans" pitchFamily="34" charset="-120"/>
              </a:rPr>
              <a:t>A</a:t>
            </a:r>
            <a:endParaRPr lang="en-US" sz="2200" dirty="0"/>
          </a:p>
        </p:txBody>
      </p:sp>
      <p:sp>
        <p:nvSpPr>
          <p:cNvPr id="4" name="Text 1"/>
          <p:cNvSpPr/>
          <p:nvPr/>
        </p:nvSpPr>
        <p:spPr>
          <a:xfrm>
            <a:off x="7264400" y="2870200"/>
            <a:ext cx="660400" cy="634454"/>
          </a:xfrm>
          <a:prstGeom prst="rect">
            <a:avLst/>
          </a:prstGeom>
          <a:noFill/>
          <a:ln/>
        </p:spPr>
        <p:txBody>
          <a:bodyPr wrap="square" lIns="0" tIns="0" rIns="0" bIns="0" rtlCol="0" anchor="t">
            <a:normAutofit/>
          </a:bodyPr>
          <a:lstStyle/>
          <a:p>
            <a:pPr algn="ctr" indent="0" marL="0">
              <a:lnSpc>
                <a:spcPts val="4796"/>
              </a:lnSpc>
              <a:buNone/>
            </a:pPr>
            <a:r>
              <a:rPr lang="en-US" sz="2200" b="1" dirty="0">
                <a:solidFill>
                  <a:srgbClr val="F6F4EE"/>
                </a:solidFill>
                <a:latin typeface="DM Sans" pitchFamily="34" charset="0"/>
                <a:ea typeface="DM Sans" pitchFamily="34" charset="-122"/>
                <a:cs typeface="DM Sans" pitchFamily="34" charset="-120"/>
              </a:rPr>
              <a:t>B</a:t>
            </a:r>
            <a:endParaRPr lang="en-US" sz="2200" dirty="0"/>
          </a:p>
        </p:txBody>
      </p:sp>
      <p:sp>
        <p:nvSpPr>
          <p:cNvPr id="5" name="Text 2"/>
          <p:cNvSpPr/>
          <p:nvPr/>
        </p:nvSpPr>
        <p:spPr>
          <a:xfrm>
            <a:off x="9804400" y="2870200"/>
            <a:ext cx="660400" cy="634454"/>
          </a:xfrm>
          <a:prstGeom prst="rect">
            <a:avLst/>
          </a:prstGeom>
          <a:noFill/>
          <a:ln/>
        </p:spPr>
        <p:txBody>
          <a:bodyPr wrap="square" lIns="0" tIns="0" rIns="0" bIns="0" rtlCol="0" anchor="t">
            <a:normAutofit/>
          </a:bodyPr>
          <a:lstStyle/>
          <a:p>
            <a:pPr algn="ctr" indent="0" marL="0">
              <a:lnSpc>
                <a:spcPts val="4796"/>
              </a:lnSpc>
              <a:buNone/>
            </a:pPr>
            <a:r>
              <a:rPr lang="en-US" sz="2200" b="1" dirty="0">
                <a:solidFill>
                  <a:srgbClr val="F6F4EE"/>
                </a:solidFill>
                <a:latin typeface="DM Sans" pitchFamily="34" charset="0"/>
                <a:ea typeface="DM Sans" pitchFamily="34" charset="-122"/>
                <a:cs typeface="DM Sans" pitchFamily="34" charset="-120"/>
              </a:rPr>
              <a:t>C</a:t>
            </a:r>
            <a:endParaRPr lang="en-US" sz="2200" dirty="0"/>
          </a:p>
        </p:txBody>
      </p:sp>
      <p:sp>
        <p:nvSpPr>
          <p:cNvPr id="6" name="Text 3"/>
          <p:cNvSpPr/>
          <p:nvPr/>
        </p:nvSpPr>
        <p:spPr>
          <a:xfrm>
            <a:off x="6629400" y="4267200"/>
            <a:ext cx="660400" cy="634454"/>
          </a:xfrm>
          <a:prstGeom prst="rect">
            <a:avLst/>
          </a:prstGeom>
          <a:noFill/>
          <a:ln/>
        </p:spPr>
        <p:txBody>
          <a:bodyPr wrap="square" lIns="0" tIns="0" rIns="0" bIns="0" rtlCol="0" anchor="t">
            <a:normAutofit/>
          </a:bodyPr>
          <a:lstStyle/>
          <a:p>
            <a:pPr algn="ctr" indent="0" marL="0">
              <a:lnSpc>
                <a:spcPts val="4796"/>
              </a:lnSpc>
              <a:buNone/>
            </a:pPr>
            <a:r>
              <a:rPr lang="en-US" sz="2200" b="1" dirty="0">
                <a:solidFill>
                  <a:srgbClr val="F6F4EE"/>
                </a:solidFill>
                <a:latin typeface="DM Sans" pitchFamily="34" charset="0"/>
                <a:ea typeface="DM Sans" pitchFamily="34" charset="-122"/>
                <a:cs typeface="DM Sans" pitchFamily="34" charset="-120"/>
              </a:rPr>
              <a:t>D</a:t>
            </a:r>
            <a:endParaRPr lang="en-US" sz="2200" dirty="0"/>
          </a:p>
        </p:txBody>
      </p:sp>
      <p:sp>
        <p:nvSpPr>
          <p:cNvPr id="7" name="Text 4"/>
          <p:cNvSpPr/>
          <p:nvPr/>
        </p:nvSpPr>
        <p:spPr>
          <a:xfrm>
            <a:off x="7899400" y="4267200"/>
            <a:ext cx="660400" cy="634454"/>
          </a:xfrm>
          <a:prstGeom prst="rect">
            <a:avLst/>
          </a:prstGeom>
          <a:noFill/>
          <a:ln/>
        </p:spPr>
        <p:txBody>
          <a:bodyPr wrap="square" lIns="0" tIns="0" rIns="0" bIns="0" rtlCol="0" anchor="t">
            <a:normAutofit/>
          </a:bodyPr>
          <a:lstStyle/>
          <a:p>
            <a:pPr algn="ctr" indent="0" marL="0">
              <a:lnSpc>
                <a:spcPts val="4796"/>
              </a:lnSpc>
              <a:buNone/>
            </a:pPr>
            <a:r>
              <a:rPr lang="en-US" sz="2200" b="1" dirty="0">
                <a:solidFill>
                  <a:srgbClr val="F6F4EE"/>
                </a:solidFill>
                <a:latin typeface="DM Sans" pitchFamily="34" charset="0"/>
                <a:ea typeface="DM Sans" pitchFamily="34" charset="-122"/>
                <a:cs typeface="DM Sans" pitchFamily="34" charset="-120"/>
              </a:rPr>
              <a:t>E</a:t>
            </a:r>
            <a:endParaRPr lang="en-US" sz="2200" dirty="0"/>
          </a:p>
        </p:txBody>
      </p:sp>
      <p:sp>
        <p:nvSpPr>
          <p:cNvPr id="8" name="Text 5"/>
          <p:cNvSpPr/>
          <p:nvPr/>
        </p:nvSpPr>
        <p:spPr>
          <a:xfrm>
            <a:off x="9804400" y="4267200"/>
            <a:ext cx="660400" cy="634454"/>
          </a:xfrm>
          <a:prstGeom prst="rect">
            <a:avLst/>
          </a:prstGeom>
          <a:noFill/>
          <a:ln/>
        </p:spPr>
        <p:txBody>
          <a:bodyPr wrap="square" lIns="0" tIns="0" rIns="0" bIns="0" rtlCol="0" anchor="t">
            <a:normAutofit/>
          </a:bodyPr>
          <a:lstStyle/>
          <a:p>
            <a:pPr algn="ctr" indent="0" marL="0">
              <a:lnSpc>
                <a:spcPts val="4796"/>
              </a:lnSpc>
              <a:buNone/>
            </a:pPr>
            <a:r>
              <a:rPr lang="en-US" sz="2200" b="1" dirty="0">
                <a:solidFill>
                  <a:srgbClr val="F6F4EE"/>
                </a:solidFill>
                <a:latin typeface="DM Sans" pitchFamily="34" charset="0"/>
                <a:ea typeface="DM Sans" pitchFamily="34" charset="-122"/>
                <a:cs typeface="DM Sans" pitchFamily="34" charset="-120"/>
              </a:rPr>
              <a:t>F</a:t>
            </a:r>
            <a:endParaRPr lang="en-US" sz="2200" dirty="0"/>
          </a:p>
        </p:txBody>
      </p:sp>
      <p:sp>
        <p:nvSpPr>
          <p:cNvPr id="9" name="Text 6"/>
          <p:cNvSpPr/>
          <p:nvPr/>
        </p:nvSpPr>
        <p:spPr>
          <a:xfrm>
            <a:off x="8966200" y="13970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5B83D"/>
          </a:solidFill>
          <a:ln/>
        </p:spPr>
        <p:txBody>
          <a:bodyPr wrap="square" lIns="0" tIns="0" rIns="0" bIns="0" rtlCol="0" anchor="t">
            <a:normAutofit/>
          </a:bodyPr>
          <a:lstStyle/>
          <a:p>
            <a:pPr algn="ctr" indent="0" marL="0">
              <a:lnSpc>
                <a:spcPts val="2004"/>
              </a:lnSpc>
              <a:buNone/>
            </a:pPr>
            <a:r>
              <a:rPr lang="en-US" sz="1200" b="1" dirty="0">
                <a:solidFill>
                  <a:srgbClr val="14213D"/>
                </a:solidFill>
                <a:latin typeface="DM Sans" pitchFamily="34" charset="0"/>
                <a:ea typeface="DM Sans" pitchFamily="34" charset="-122"/>
                <a:cs typeface="DM Sans" pitchFamily="34" charset="-120"/>
              </a:rPr>
              <a:t>1</a:t>
            </a:r>
            <a:endParaRPr lang="en-US" sz="1200" dirty="0"/>
          </a:p>
        </p:txBody>
      </p:sp>
      <p:sp>
        <p:nvSpPr>
          <p:cNvPr id="10" name="Text 7"/>
          <p:cNvSpPr/>
          <p:nvPr/>
        </p:nvSpPr>
        <p:spPr>
          <a:xfrm>
            <a:off x="7696200" y="27940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5B83D"/>
          </a:solidFill>
          <a:ln/>
        </p:spPr>
        <p:txBody>
          <a:bodyPr wrap="square" lIns="0" tIns="0" rIns="0" bIns="0" rtlCol="0" anchor="t">
            <a:normAutofit/>
          </a:bodyPr>
          <a:lstStyle/>
          <a:p>
            <a:pPr algn="ctr" indent="0" marL="0">
              <a:lnSpc>
                <a:spcPts val="2004"/>
              </a:lnSpc>
              <a:buNone/>
            </a:pPr>
            <a:r>
              <a:rPr lang="en-US" sz="1200" b="1" dirty="0">
                <a:solidFill>
                  <a:srgbClr val="14213D"/>
                </a:solidFill>
                <a:latin typeface="DM Sans" pitchFamily="34" charset="0"/>
                <a:ea typeface="DM Sans" pitchFamily="34" charset="-122"/>
                <a:cs typeface="DM Sans" pitchFamily="34" charset="-120"/>
              </a:rPr>
              <a:t>2</a:t>
            </a:r>
            <a:endParaRPr lang="en-US" sz="1200" dirty="0"/>
          </a:p>
        </p:txBody>
      </p:sp>
      <p:sp>
        <p:nvSpPr>
          <p:cNvPr id="11" name="Text 8"/>
          <p:cNvSpPr/>
          <p:nvPr/>
        </p:nvSpPr>
        <p:spPr>
          <a:xfrm>
            <a:off x="7061200" y="41910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5B83D"/>
          </a:solidFill>
          <a:ln/>
        </p:spPr>
        <p:txBody>
          <a:bodyPr wrap="square" lIns="0" tIns="0" rIns="0" bIns="0" rtlCol="0" anchor="t">
            <a:normAutofit/>
          </a:bodyPr>
          <a:lstStyle/>
          <a:p>
            <a:pPr algn="ctr" indent="0" marL="0">
              <a:lnSpc>
                <a:spcPts val="2004"/>
              </a:lnSpc>
              <a:buNone/>
            </a:pPr>
            <a:r>
              <a:rPr lang="en-US" sz="1200" b="1" dirty="0">
                <a:solidFill>
                  <a:srgbClr val="14213D"/>
                </a:solidFill>
                <a:latin typeface="DM Sans" pitchFamily="34" charset="0"/>
                <a:ea typeface="DM Sans" pitchFamily="34" charset="-122"/>
                <a:cs typeface="DM Sans" pitchFamily="34" charset="-120"/>
              </a:rPr>
              <a:t>3</a:t>
            </a:r>
            <a:endParaRPr lang="en-US" sz="1200" dirty="0"/>
          </a:p>
        </p:txBody>
      </p:sp>
      <p:sp>
        <p:nvSpPr>
          <p:cNvPr id="12" name="Text 9"/>
          <p:cNvSpPr/>
          <p:nvPr/>
        </p:nvSpPr>
        <p:spPr>
          <a:xfrm>
            <a:off x="8331200" y="41910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5B83D"/>
          </a:solidFill>
          <a:ln/>
        </p:spPr>
        <p:txBody>
          <a:bodyPr wrap="square" lIns="0" tIns="0" rIns="0" bIns="0" rtlCol="0" anchor="t">
            <a:normAutofit/>
          </a:bodyPr>
          <a:lstStyle/>
          <a:p>
            <a:pPr algn="ctr" indent="0" marL="0">
              <a:lnSpc>
                <a:spcPts val="2004"/>
              </a:lnSpc>
              <a:buNone/>
            </a:pPr>
            <a:r>
              <a:rPr lang="en-US" sz="1200" b="1" dirty="0">
                <a:solidFill>
                  <a:srgbClr val="14213D"/>
                </a:solidFill>
                <a:latin typeface="DM Sans" pitchFamily="34" charset="0"/>
                <a:ea typeface="DM Sans" pitchFamily="34" charset="-122"/>
                <a:cs typeface="DM Sans" pitchFamily="34" charset="-120"/>
              </a:rPr>
              <a:t>4</a:t>
            </a:r>
            <a:endParaRPr lang="en-US" sz="1200" dirty="0"/>
          </a:p>
        </p:txBody>
      </p:sp>
      <p:sp>
        <p:nvSpPr>
          <p:cNvPr id="13" name="Text 10"/>
          <p:cNvSpPr/>
          <p:nvPr/>
        </p:nvSpPr>
        <p:spPr>
          <a:xfrm>
            <a:off x="10236200" y="27940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5B83D"/>
          </a:solidFill>
          <a:ln/>
        </p:spPr>
        <p:txBody>
          <a:bodyPr wrap="square" lIns="0" tIns="0" rIns="0" bIns="0" rtlCol="0" anchor="t">
            <a:normAutofit/>
          </a:bodyPr>
          <a:lstStyle/>
          <a:p>
            <a:pPr algn="ctr" indent="0" marL="0">
              <a:lnSpc>
                <a:spcPts val="2004"/>
              </a:lnSpc>
              <a:buNone/>
            </a:pPr>
            <a:r>
              <a:rPr lang="en-US" sz="1200" b="1" dirty="0">
                <a:solidFill>
                  <a:srgbClr val="14213D"/>
                </a:solidFill>
                <a:latin typeface="DM Sans" pitchFamily="34" charset="0"/>
                <a:ea typeface="DM Sans" pitchFamily="34" charset="-122"/>
                <a:cs typeface="DM Sans" pitchFamily="34" charset="-120"/>
              </a:rPr>
              <a:t>5</a:t>
            </a:r>
            <a:endParaRPr lang="en-US" sz="1200" dirty="0"/>
          </a:p>
        </p:txBody>
      </p:sp>
      <p:sp>
        <p:nvSpPr>
          <p:cNvPr id="14" name="Text 11"/>
          <p:cNvSpPr/>
          <p:nvPr/>
        </p:nvSpPr>
        <p:spPr>
          <a:xfrm>
            <a:off x="10236200" y="41910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5B83D"/>
          </a:solidFill>
          <a:ln/>
        </p:spPr>
        <p:txBody>
          <a:bodyPr wrap="square" lIns="0" tIns="0" rIns="0" bIns="0" rtlCol="0" anchor="t">
            <a:normAutofit/>
          </a:bodyPr>
          <a:lstStyle/>
          <a:p>
            <a:pPr algn="ctr" indent="0" marL="0">
              <a:lnSpc>
                <a:spcPts val="2004"/>
              </a:lnSpc>
              <a:buNone/>
            </a:pPr>
            <a:r>
              <a:rPr lang="en-US" sz="1200" b="1" dirty="0">
                <a:solidFill>
                  <a:srgbClr val="14213D"/>
                </a:solidFill>
                <a:latin typeface="DM Sans" pitchFamily="34" charset="0"/>
                <a:ea typeface="DM Sans" pitchFamily="34" charset="-122"/>
                <a:cs typeface="DM Sans" pitchFamily="34" charset="-120"/>
              </a:rPr>
              <a:t>6</a:t>
            </a:r>
            <a:endParaRPr lang="en-US" sz="1200" dirty="0"/>
          </a:p>
        </p:txBody>
      </p:sp>
      <p:sp>
        <p:nvSpPr>
          <p:cNvPr id="15"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DM Sans" pitchFamily="34" charset="0"/>
                <a:ea typeface="DM Sans" pitchFamily="34" charset="-122"/>
                <a:cs typeface="DM Sans" pitchFamily="34" charset="-120"/>
              </a:rPr>
              <a:t>WORKED EXAMPLE</a:t>
            </a:r>
            <a:endParaRPr lang="en-US" sz="1200" dirty="0"/>
          </a:p>
        </p:txBody>
      </p:sp>
      <p:sp>
        <p:nvSpPr>
          <p:cNvPr id="16" name="Text 13"/>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Traversal example</a:t>
            </a:r>
            <a:endParaRPr lang="en-US" sz="3600" dirty="0"/>
          </a:p>
        </p:txBody>
      </p:sp>
      <p:sp>
        <p:nvSpPr>
          <p:cNvPr id="17" name="Text 14"/>
          <p:cNvSpPr/>
          <p:nvPr/>
        </p:nvSpPr>
        <p:spPr>
          <a:xfrm>
            <a:off x="812800" y="1935411"/>
            <a:ext cx="51015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Starting at A, DFS follows the left branch all the way down before it ever touches C.</a:t>
            </a:r>
            <a:endParaRPr lang="en-US" sz="1600" dirty="0"/>
          </a:p>
        </p:txBody>
      </p:sp>
      <p:sp>
        <p:nvSpPr>
          <p:cNvPr id="18" name="Shape 15"/>
          <p:cNvSpPr/>
          <p:nvPr/>
        </p:nvSpPr>
        <p:spPr>
          <a:xfrm>
            <a:off x="812800" y="2707531"/>
            <a:ext cx="4953000" cy="1087041"/>
          </a:xfrm>
          <a:prstGeom prst="roundRect">
            <a:avLst>
              <a:gd name="adj" fmla="val 9346"/>
            </a:avLst>
          </a:prstGeom>
          <a:solidFill>
            <a:srgbClr val="0E1726"/>
          </a:solidFill>
          <a:ln/>
        </p:spPr>
      </p:sp>
      <p:sp>
        <p:nvSpPr>
          <p:cNvPr id="19" name="Text 16"/>
          <p:cNvSpPr/>
          <p:nvPr/>
        </p:nvSpPr>
        <p:spPr>
          <a:xfrm>
            <a:off x="1016000" y="2910731"/>
            <a:ext cx="468299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3D"/>
                </a:solidFill>
                <a:latin typeface="DM Sans" pitchFamily="34" charset="0"/>
                <a:ea typeface="DM Sans" pitchFamily="34" charset="-122"/>
                <a:cs typeface="DM Sans" pitchFamily="34" charset="-120"/>
              </a:rPr>
              <a:t>VISIT ORDER</a:t>
            </a:r>
            <a:endParaRPr lang="en-US" sz="1200" dirty="0"/>
          </a:p>
        </p:txBody>
      </p:sp>
      <p:sp>
        <p:nvSpPr>
          <p:cNvPr id="20" name="Text 17"/>
          <p:cNvSpPr/>
          <p:nvPr/>
        </p:nvSpPr>
        <p:spPr>
          <a:xfrm>
            <a:off x="1016000" y="3200251"/>
            <a:ext cx="4682998" cy="41652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F6F4EE"/>
                </a:solidFill>
                <a:latin typeface="JetBrains Mono" pitchFamily="49" charset="0"/>
                <a:ea typeface="JetBrains Mono" pitchFamily="49" charset="-122"/>
                <a:cs typeface="JetBrains Mono" pitchFamily="49" charset="-120"/>
              </a:rPr>
              <a:t>A → B → D → E → C → F</a:t>
            </a:r>
            <a:endParaRPr lang="en-US" sz="2200" dirty="0"/>
          </a:p>
        </p:txBody>
      </p:sp>
      <p:sp>
        <p:nvSpPr>
          <p:cNvPr id="21" name="Text 18"/>
          <p:cNvSpPr/>
          <p:nvPr/>
        </p:nvSpPr>
        <p:spPr>
          <a:xfrm>
            <a:off x="812800" y="3997771"/>
            <a:ext cx="51015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D and E are dead ends, so DFS backtracks to B, then to A, before it visits C and F.</a:t>
            </a:r>
            <a:endParaRPr lang="en-US" sz="1600" dirty="0"/>
          </a:p>
        </p:txBody>
      </p:sp>
      <p:sp>
        <p:nvSpPr>
          <p:cNvPr id="22" name="Text 1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Depth First Search</a:t>
            </a:r>
            <a:endParaRPr lang="en-US" sz="1200" dirty="0"/>
          </a:p>
        </p:txBody>
      </p:sp>
      <p:sp>
        <p:nvSpPr>
          <p:cNvPr id="23"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4 / 10</a:t>
            </a:r>
            <a:endParaRPr lang="en-US" sz="1200" dirty="0"/>
          </a:p>
        </p:txBody>
      </p:sp>
      <p:sp>
        <p:nvSpPr>
          <p:cNvPr id="24" name="Text 21"/>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5B83D"/>
                </a:solidFill>
                <a:latin typeface="DM Sans" pitchFamily="34" charset="0"/>
                <a:ea typeface="DM Sans" pitchFamily="34" charset="-122"/>
                <a:cs typeface="DM Sans" pitchFamily="34" charset="-120"/>
              </a:rPr>
              <a:t>CODE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DM Sans" pitchFamily="34" charset="0"/>
                <a:ea typeface="DM Sans" pitchFamily="34" charset="-122"/>
                <a:cs typeface="DM Sans" pitchFamily="34" charset="-120"/>
              </a:rPr>
              <a:t>Recursive implementation</a:t>
            </a:r>
            <a:endParaRPr lang="en-US" sz="3600" dirty="0"/>
          </a:p>
        </p:txBody>
      </p:sp>
      <p:sp>
        <p:nvSpPr>
          <p:cNvPr id="4" name="Shape 2"/>
          <p:cNvSpPr/>
          <p:nvPr/>
        </p:nvSpPr>
        <p:spPr>
          <a:xfrm>
            <a:off x="812800" y="1935411"/>
            <a:ext cx="7366000" cy="3505200"/>
          </a:xfrm>
          <a:prstGeom prst="roundRect">
            <a:avLst>
              <a:gd name="adj" fmla="val 2899"/>
            </a:avLst>
          </a:prstGeom>
          <a:solidFill>
            <a:srgbClr val="17233A"/>
          </a:solidFill>
          <a:ln/>
        </p:spPr>
      </p:sp>
      <p:sp>
        <p:nvSpPr>
          <p:cNvPr id="5" name="Text 3"/>
          <p:cNvSpPr/>
          <p:nvPr/>
        </p:nvSpPr>
        <p:spPr>
          <a:xfrm>
            <a:off x="1092200" y="2214811"/>
            <a:ext cx="7011416"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def</a:t>
            </a:r>
            <a:r>
              <a:rPr lang="en-US" sz="1600" dirty="0">
                <a:solidFill>
                  <a:srgbClr val="E6EDF7"/>
                </a:solidFill>
                <a:latin typeface="JetBrains Mono" pitchFamily="49" charset="0"/>
                <a:ea typeface="JetBrains Mono" pitchFamily="49" charset="-122"/>
                <a:cs typeface="JetBrains Mono" pitchFamily="49" charset="-120"/>
              </a:rPr>
              <a:t> dfs(graph, node, visited=None):</a:t>
            </a:r>
            <a:endParaRPr lang="en-US" sz="1600" dirty="0"/>
          </a:p>
        </p:txBody>
      </p:sp>
      <p:sp>
        <p:nvSpPr>
          <p:cNvPr id="6" name="Text 4"/>
          <p:cNvSpPr/>
          <p:nvPr/>
        </p:nvSpPr>
        <p:spPr>
          <a:xfrm>
            <a:off x="1498600" y="25450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if</a:t>
            </a:r>
            <a:r>
              <a:rPr lang="en-US" sz="1600" dirty="0">
                <a:solidFill>
                  <a:srgbClr val="E6EDF7"/>
                </a:solidFill>
                <a:latin typeface="JetBrains Mono" pitchFamily="49" charset="0"/>
                <a:ea typeface="JetBrains Mono" pitchFamily="49" charset="-122"/>
                <a:cs typeface="JetBrains Mono" pitchFamily="49" charset="-120"/>
              </a:rPr>
              <a:t> visited </a:t>
            </a:r>
            <a:r>
              <a:rPr lang="en-US" sz="1600" dirty="0">
                <a:solidFill>
                  <a:srgbClr val="F5B83D"/>
                </a:solidFill>
                <a:latin typeface="JetBrains Mono" pitchFamily="49" charset="0"/>
                <a:ea typeface="JetBrains Mono" pitchFamily="49" charset="-122"/>
                <a:cs typeface="JetBrains Mono" pitchFamily="49" charset="-120"/>
              </a:rPr>
              <a:t>is</a:t>
            </a:r>
            <a:r>
              <a:rPr lang="en-US" sz="1600" dirty="0">
                <a:solidFill>
                  <a:srgbClr val="E6EDF7"/>
                </a:solidFill>
                <a:latin typeface="JetBrains Mono" pitchFamily="49" charset="0"/>
                <a:ea typeface="JetBrains Mono" pitchFamily="49" charset="-122"/>
                <a:cs typeface="JetBrains Mono" pitchFamily="49" charset="-120"/>
              </a:rPr>
              <a:t> None:</a:t>
            </a:r>
            <a:endParaRPr lang="en-US" sz="1600" dirty="0"/>
          </a:p>
        </p:txBody>
      </p:sp>
      <p:sp>
        <p:nvSpPr>
          <p:cNvPr id="7" name="Text 5"/>
          <p:cNvSpPr/>
          <p:nvPr/>
        </p:nvSpPr>
        <p:spPr>
          <a:xfrm>
            <a:off x="1905000" y="2875211"/>
            <a:ext cx="6174232"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visited = set()</a:t>
            </a:r>
            <a:endParaRPr lang="en-US" sz="1600" dirty="0"/>
          </a:p>
        </p:txBody>
      </p:sp>
      <p:sp>
        <p:nvSpPr>
          <p:cNvPr id="8" name="Text 6"/>
          <p:cNvSpPr/>
          <p:nvPr/>
        </p:nvSpPr>
        <p:spPr>
          <a:xfrm>
            <a:off x="1498600" y="32054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visited.add(node)</a:t>
            </a:r>
            <a:endParaRPr lang="en-US" sz="1600" dirty="0"/>
          </a:p>
        </p:txBody>
      </p:sp>
      <p:sp>
        <p:nvSpPr>
          <p:cNvPr id="9" name="Text 7"/>
          <p:cNvSpPr/>
          <p:nvPr/>
        </p:nvSpPr>
        <p:spPr>
          <a:xfrm>
            <a:off x="1498600" y="35356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print(node)</a:t>
            </a:r>
            <a:endParaRPr lang="en-US" sz="1600" dirty="0"/>
          </a:p>
        </p:txBody>
      </p:sp>
      <p:sp>
        <p:nvSpPr>
          <p:cNvPr id="10" name="Text 8"/>
          <p:cNvSpPr/>
          <p:nvPr/>
        </p:nvSpPr>
        <p:spPr>
          <a:xfrm>
            <a:off x="1498600" y="38658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for</a:t>
            </a:r>
            <a:r>
              <a:rPr lang="en-US" sz="1600" dirty="0">
                <a:solidFill>
                  <a:srgbClr val="E6EDF7"/>
                </a:solidFill>
                <a:latin typeface="JetBrains Mono" pitchFamily="49" charset="0"/>
                <a:ea typeface="JetBrains Mono" pitchFamily="49" charset="-122"/>
                <a:cs typeface="JetBrains Mono" pitchFamily="49" charset="-120"/>
              </a:rPr>
              <a:t> nb </a:t>
            </a:r>
            <a:r>
              <a:rPr lang="en-US" sz="1600" dirty="0">
                <a:solidFill>
                  <a:srgbClr val="F5B83D"/>
                </a:solidFill>
                <a:latin typeface="JetBrains Mono" pitchFamily="49" charset="0"/>
                <a:ea typeface="JetBrains Mono" pitchFamily="49" charset="-122"/>
                <a:cs typeface="JetBrains Mono" pitchFamily="49" charset="-120"/>
              </a:rPr>
              <a:t>in</a:t>
            </a:r>
            <a:r>
              <a:rPr lang="en-US" sz="1600" dirty="0">
                <a:solidFill>
                  <a:srgbClr val="E6EDF7"/>
                </a:solidFill>
                <a:latin typeface="JetBrains Mono" pitchFamily="49" charset="0"/>
                <a:ea typeface="JetBrains Mono" pitchFamily="49" charset="-122"/>
                <a:cs typeface="JetBrains Mono" pitchFamily="49" charset="-120"/>
              </a:rPr>
              <a:t> graph[node]:</a:t>
            </a:r>
            <a:endParaRPr lang="en-US" sz="1600" dirty="0"/>
          </a:p>
        </p:txBody>
      </p:sp>
      <p:sp>
        <p:nvSpPr>
          <p:cNvPr id="11" name="Text 9"/>
          <p:cNvSpPr/>
          <p:nvPr/>
        </p:nvSpPr>
        <p:spPr>
          <a:xfrm>
            <a:off x="1905000" y="4196011"/>
            <a:ext cx="6174232"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if</a:t>
            </a:r>
            <a:r>
              <a:rPr lang="en-US" sz="1600" dirty="0">
                <a:solidFill>
                  <a:srgbClr val="E6EDF7"/>
                </a:solidFill>
                <a:latin typeface="JetBrains Mono" pitchFamily="49" charset="0"/>
                <a:ea typeface="JetBrains Mono" pitchFamily="49" charset="-122"/>
                <a:cs typeface="JetBrains Mono" pitchFamily="49" charset="-120"/>
              </a:rPr>
              <a:t> nb </a:t>
            </a:r>
            <a:r>
              <a:rPr lang="en-US" sz="1600" dirty="0">
                <a:solidFill>
                  <a:srgbClr val="F5B83D"/>
                </a:solidFill>
                <a:latin typeface="JetBrains Mono" pitchFamily="49" charset="0"/>
                <a:ea typeface="JetBrains Mono" pitchFamily="49" charset="-122"/>
                <a:cs typeface="JetBrains Mono" pitchFamily="49" charset="-120"/>
              </a:rPr>
              <a:t>not in</a:t>
            </a:r>
            <a:r>
              <a:rPr lang="en-US" sz="1600" dirty="0">
                <a:solidFill>
                  <a:srgbClr val="E6EDF7"/>
                </a:solidFill>
                <a:latin typeface="JetBrains Mono" pitchFamily="49" charset="0"/>
                <a:ea typeface="JetBrains Mono" pitchFamily="49" charset="-122"/>
                <a:cs typeface="JetBrains Mono" pitchFamily="49" charset="-120"/>
              </a:rPr>
              <a:t> visited:</a:t>
            </a:r>
            <a:endParaRPr lang="en-US" sz="1600" dirty="0"/>
          </a:p>
        </p:txBody>
      </p:sp>
      <p:sp>
        <p:nvSpPr>
          <p:cNvPr id="12" name="Text 10"/>
          <p:cNvSpPr/>
          <p:nvPr/>
        </p:nvSpPr>
        <p:spPr>
          <a:xfrm>
            <a:off x="2311400" y="4526211"/>
            <a:ext cx="5755640"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dfs(graph, nb, visited)</a:t>
            </a:r>
            <a:endParaRPr lang="en-US" sz="1600" dirty="0"/>
          </a:p>
        </p:txBody>
      </p:sp>
      <p:sp>
        <p:nvSpPr>
          <p:cNvPr id="13" name="Text 11"/>
          <p:cNvSpPr/>
          <p:nvPr/>
        </p:nvSpPr>
        <p:spPr>
          <a:xfrm>
            <a:off x="1498600" y="48564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return</a:t>
            </a:r>
            <a:r>
              <a:rPr lang="en-US" sz="1600" dirty="0">
                <a:solidFill>
                  <a:srgbClr val="E6EDF7"/>
                </a:solidFill>
                <a:latin typeface="JetBrains Mono" pitchFamily="49" charset="0"/>
                <a:ea typeface="JetBrains Mono" pitchFamily="49" charset="-122"/>
                <a:cs typeface="JetBrains Mono" pitchFamily="49" charset="-120"/>
              </a:rPr>
              <a:t> visited</a:t>
            </a:r>
            <a:endParaRPr lang="en-US" sz="1600" dirty="0"/>
          </a:p>
        </p:txBody>
      </p:sp>
      <p:sp>
        <p:nvSpPr>
          <p:cNvPr id="14" name="Text 12"/>
          <p:cNvSpPr/>
          <p:nvPr/>
        </p:nvSpPr>
        <p:spPr>
          <a:xfrm>
            <a:off x="8585200" y="193541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3D"/>
                </a:solidFill>
                <a:latin typeface="DM Sans" pitchFamily="34" charset="0"/>
                <a:ea typeface="DM Sans" pitchFamily="34" charset="-122"/>
                <a:cs typeface="DM Sans" pitchFamily="34" charset="-120"/>
              </a:rPr>
              <a:t>VISITED SET</a:t>
            </a:r>
            <a:endParaRPr lang="en-US" sz="1200" dirty="0"/>
          </a:p>
        </p:txBody>
      </p:sp>
      <p:sp>
        <p:nvSpPr>
          <p:cNvPr id="15" name="Text 13"/>
          <p:cNvSpPr/>
          <p:nvPr/>
        </p:nvSpPr>
        <p:spPr>
          <a:xfrm>
            <a:off x="8585200" y="2199531"/>
            <a:ext cx="28778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DM Sans" pitchFamily="34" charset="0"/>
                <a:ea typeface="DM Sans" pitchFamily="34" charset="-122"/>
                <a:cs typeface="DM Sans" pitchFamily="34" charset="-120"/>
              </a:rPr>
              <a:t>Skips nodes already seen, so cycles never cause an infinite loop.</a:t>
            </a:r>
            <a:endParaRPr lang="en-US" sz="1600" dirty="0"/>
          </a:p>
        </p:txBody>
      </p:sp>
      <p:sp>
        <p:nvSpPr>
          <p:cNvPr id="16" name="Text 14"/>
          <p:cNvSpPr/>
          <p:nvPr/>
        </p:nvSpPr>
        <p:spPr>
          <a:xfrm>
            <a:off x="8585200" y="330691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3D"/>
                </a:solidFill>
                <a:latin typeface="DM Sans" pitchFamily="34" charset="0"/>
                <a:ea typeface="DM Sans" pitchFamily="34" charset="-122"/>
                <a:cs typeface="DM Sans" pitchFamily="34" charset="-120"/>
              </a:rPr>
              <a:t>CALL STACK</a:t>
            </a:r>
            <a:endParaRPr lang="en-US" sz="1200" dirty="0"/>
          </a:p>
        </p:txBody>
      </p:sp>
      <p:sp>
        <p:nvSpPr>
          <p:cNvPr id="17" name="Text 15"/>
          <p:cNvSpPr/>
          <p:nvPr/>
        </p:nvSpPr>
        <p:spPr>
          <a:xfrm>
            <a:off x="8585200" y="3571032"/>
            <a:ext cx="28778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DM Sans" pitchFamily="34" charset="0"/>
                <a:ea typeface="DM Sans" pitchFamily="34" charset="-122"/>
                <a:cs typeface="DM Sans" pitchFamily="34" charset="-120"/>
              </a:rPr>
              <a:t>Each call remembers where to resume once a deeper call returns.</a:t>
            </a:r>
            <a:endParaRPr lang="en-US" sz="16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8A6BA"/>
                </a:solidFill>
                <a:latin typeface="DM Sans" pitchFamily="34" charset="0"/>
                <a:ea typeface="DM Sans" pitchFamily="34" charset="-122"/>
                <a:cs typeface="DM Sans" pitchFamily="34" charset="-120"/>
              </a:rPr>
              <a:t>Depth First Search</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8A6BA"/>
                </a:solidFill>
                <a:latin typeface="DM Sans" pitchFamily="34" charset="0"/>
                <a:ea typeface="DM Sans" pitchFamily="34" charset="-122"/>
                <a:cs typeface="DM Sans" pitchFamily="34" charset="-120"/>
              </a:rPr>
              <a:t>5 / 10</a:t>
            </a:r>
            <a:endParaRPr lang="en-US" sz="1200" dirty="0"/>
          </a:p>
        </p:txBody>
      </p:sp>
      <p:sp>
        <p:nvSpPr>
          <p:cNvPr id="20" name="Text 18"/>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8A6BA">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5B83D"/>
                </a:solidFill>
                <a:latin typeface="DM Sans" pitchFamily="34" charset="0"/>
                <a:ea typeface="DM Sans" pitchFamily="34" charset="-122"/>
                <a:cs typeface="DM Sans" pitchFamily="34" charset="-120"/>
              </a:rPr>
              <a:t>CODE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DM Sans" pitchFamily="34" charset="0"/>
                <a:ea typeface="DM Sans" pitchFamily="34" charset="-122"/>
                <a:cs typeface="DM Sans" pitchFamily="34" charset="-120"/>
              </a:rPr>
              <a:t>Iterative implementation</a:t>
            </a:r>
            <a:endParaRPr lang="en-US" sz="3600" dirty="0"/>
          </a:p>
        </p:txBody>
      </p:sp>
      <p:sp>
        <p:nvSpPr>
          <p:cNvPr id="4" name="Shape 2"/>
          <p:cNvSpPr/>
          <p:nvPr/>
        </p:nvSpPr>
        <p:spPr>
          <a:xfrm>
            <a:off x="812800" y="1935411"/>
            <a:ext cx="7366000" cy="3784600"/>
          </a:xfrm>
          <a:prstGeom prst="roundRect">
            <a:avLst>
              <a:gd name="adj" fmla="val 2685"/>
            </a:avLst>
          </a:prstGeom>
          <a:solidFill>
            <a:srgbClr val="17233A"/>
          </a:solidFill>
          <a:ln/>
        </p:spPr>
      </p:sp>
      <p:sp>
        <p:nvSpPr>
          <p:cNvPr id="5" name="Text 3"/>
          <p:cNvSpPr/>
          <p:nvPr/>
        </p:nvSpPr>
        <p:spPr>
          <a:xfrm>
            <a:off x="1092200" y="2189411"/>
            <a:ext cx="7011416"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def</a:t>
            </a:r>
            <a:r>
              <a:rPr lang="en-US" sz="1600" dirty="0">
                <a:solidFill>
                  <a:srgbClr val="E6EDF7"/>
                </a:solidFill>
                <a:latin typeface="JetBrains Mono" pitchFamily="49" charset="0"/>
                <a:ea typeface="JetBrains Mono" pitchFamily="49" charset="-122"/>
                <a:cs typeface="JetBrains Mono" pitchFamily="49" charset="-120"/>
              </a:rPr>
              <a:t> dfs_iterative(graph, start):</a:t>
            </a:r>
            <a:endParaRPr lang="en-US" sz="1600" dirty="0"/>
          </a:p>
        </p:txBody>
      </p:sp>
      <p:sp>
        <p:nvSpPr>
          <p:cNvPr id="6" name="Text 4"/>
          <p:cNvSpPr/>
          <p:nvPr/>
        </p:nvSpPr>
        <p:spPr>
          <a:xfrm>
            <a:off x="1498600" y="25196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visited = set()</a:t>
            </a:r>
            <a:endParaRPr lang="en-US" sz="1600" dirty="0"/>
          </a:p>
        </p:txBody>
      </p:sp>
      <p:sp>
        <p:nvSpPr>
          <p:cNvPr id="7" name="Text 5"/>
          <p:cNvSpPr/>
          <p:nvPr/>
        </p:nvSpPr>
        <p:spPr>
          <a:xfrm>
            <a:off x="1498600" y="28498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stack = [start]</a:t>
            </a:r>
            <a:endParaRPr lang="en-US" sz="1600" dirty="0"/>
          </a:p>
        </p:txBody>
      </p:sp>
      <p:sp>
        <p:nvSpPr>
          <p:cNvPr id="8" name="Text 6"/>
          <p:cNvSpPr/>
          <p:nvPr/>
        </p:nvSpPr>
        <p:spPr>
          <a:xfrm>
            <a:off x="1498600" y="3180011"/>
            <a:ext cx="6592824"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while</a:t>
            </a:r>
            <a:r>
              <a:rPr lang="en-US" sz="1600" dirty="0">
                <a:solidFill>
                  <a:srgbClr val="E6EDF7"/>
                </a:solidFill>
                <a:latin typeface="JetBrains Mono" pitchFamily="49" charset="0"/>
                <a:ea typeface="JetBrains Mono" pitchFamily="49" charset="-122"/>
                <a:cs typeface="JetBrains Mono" pitchFamily="49" charset="-120"/>
              </a:rPr>
              <a:t> stack:</a:t>
            </a:r>
            <a:endParaRPr lang="en-US" sz="1600" dirty="0"/>
          </a:p>
        </p:txBody>
      </p:sp>
      <p:sp>
        <p:nvSpPr>
          <p:cNvPr id="9" name="Text 7"/>
          <p:cNvSpPr/>
          <p:nvPr/>
        </p:nvSpPr>
        <p:spPr>
          <a:xfrm>
            <a:off x="1905000" y="3510211"/>
            <a:ext cx="6174232"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node = stack.pop()</a:t>
            </a:r>
            <a:endParaRPr lang="en-US" sz="1600" dirty="0"/>
          </a:p>
        </p:txBody>
      </p:sp>
      <p:sp>
        <p:nvSpPr>
          <p:cNvPr id="10" name="Text 8"/>
          <p:cNvSpPr/>
          <p:nvPr/>
        </p:nvSpPr>
        <p:spPr>
          <a:xfrm>
            <a:off x="1905000" y="3840411"/>
            <a:ext cx="6174232"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if</a:t>
            </a:r>
            <a:r>
              <a:rPr lang="en-US" sz="1600" dirty="0">
                <a:solidFill>
                  <a:srgbClr val="E6EDF7"/>
                </a:solidFill>
                <a:latin typeface="JetBrains Mono" pitchFamily="49" charset="0"/>
                <a:ea typeface="JetBrains Mono" pitchFamily="49" charset="-122"/>
                <a:cs typeface="JetBrains Mono" pitchFamily="49" charset="-120"/>
              </a:rPr>
              <a:t> node </a:t>
            </a:r>
            <a:r>
              <a:rPr lang="en-US" sz="1600" dirty="0">
                <a:solidFill>
                  <a:srgbClr val="F5B83D"/>
                </a:solidFill>
                <a:latin typeface="JetBrains Mono" pitchFamily="49" charset="0"/>
                <a:ea typeface="JetBrains Mono" pitchFamily="49" charset="-122"/>
                <a:cs typeface="JetBrains Mono" pitchFamily="49" charset="-120"/>
              </a:rPr>
              <a:t>not in</a:t>
            </a:r>
            <a:r>
              <a:rPr lang="en-US" sz="1600" dirty="0">
                <a:solidFill>
                  <a:srgbClr val="E6EDF7"/>
                </a:solidFill>
                <a:latin typeface="JetBrains Mono" pitchFamily="49" charset="0"/>
                <a:ea typeface="JetBrains Mono" pitchFamily="49" charset="-122"/>
                <a:cs typeface="JetBrains Mono" pitchFamily="49" charset="-120"/>
              </a:rPr>
              <a:t> visited:</a:t>
            </a:r>
            <a:endParaRPr lang="en-US" sz="1600" dirty="0"/>
          </a:p>
        </p:txBody>
      </p:sp>
      <p:sp>
        <p:nvSpPr>
          <p:cNvPr id="11" name="Text 9"/>
          <p:cNvSpPr/>
          <p:nvPr/>
        </p:nvSpPr>
        <p:spPr>
          <a:xfrm>
            <a:off x="2311400" y="4170611"/>
            <a:ext cx="5755640"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visited.add(node)</a:t>
            </a:r>
            <a:endParaRPr lang="en-US" sz="1600" dirty="0"/>
          </a:p>
        </p:txBody>
      </p:sp>
      <p:sp>
        <p:nvSpPr>
          <p:cNvPr id="12" name="Text 10"/>
          <p:cNvSpPr/>
          <p:nvPr/>
        </p:nvSpPr>
        <p:spPr>
          <a:xfrm>
            <a:off x="2311400" y="4500811"/>
            <a:ext cx="5755640"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print(node)</a:t>
            </a:r>
            <a:endParaRPr lang="en-US" sz="1600" dirty="0"/>
          </a:p>
        </p:txBody>
      </p:sp>
      <p:sp>
        <p:nvSpPr>
          <p:cNvPr id="13" name="Text 11"/>
          <p:cNvSpPr/>
          <p:nvPr/>
        </p:nvSpPr>
        <p:spPr>
          <a:xfrm>
            <a:off x="2311400" y="4831011"/>
            <a:ext cx="5755640"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F5B83D"/>
                </a:solidFill>
                <a:latin typeface="JetBrains Mono" pitchFamily="49" charset="0"/>
                <a:ea typeface="JetBrains Mono" pitchFamily="49" charset="-122"/>
                <a:cs typeface="JetBrains Mono" pitchFamily="49" charset="-120"/>
              </a:rPr>
              <a:t>for</a:t>
            </a:r>
            <a:r>
              <a:rPr lang="en-US" sz="1600" dirty="0">
                <a:solidFill>
                  <a:srgbClr val="E6EDF7"/>
                </a:solidFill>
                <a:latin typeface="JetBrains Mono" pitchFamily="49" charset="0"/>
                <a:ea typeface="JetBrains Mono" pitchFamily="49" charset="-122"/>
                <a:cs typeface="JetBrains Mono" pitchFamily="49" charset="-120"/>
              </a:rPr>
              <a:t> nb </a:t>
            </a:r>
            <a:r>
              <a:rPr lang="en-US" sz="1600" dirty="0">
                <a:solidFill>
                  <a:srgbClr val="F5B83D"/>
                </a:solidFill>
                <a:latin typeface="JetBrains Mono" pitchFamily="49" charset="0"/>
                <a:ea typeface="JetBrains Mono" pitchFamily="49" charset="-122"/>
                <a:cs typeface="JetBrains Mono" pitchFamily="49" charset="-120"/>
              </a:rPr>
              <a:t>in</a:t>
            </a:r>
            <a:r>
              <a:rPr lang="en-US" sz="1600" dirty="0">
                <a:solidFill>
                  <a:srgbClr val="E6EDF7"/>
                </a:solidFill>
                <a:latin typeface="JetBrains Mono" pitchFamily="49" charset="0"/>
                <a:ea typeface="JetBrains Mono" pitchFamily="49" charset="-122"/>
                <a:cs typeface="JetBrains Mono" pitchFamily="49" charset="-120"/>
              </a:rPr>
              <a:t> reversed(graph[node]):</a:t>
            </a:r>
            <a:endParaRPr lang="en-US" sz="1600" dirty="0"/>
          </a:p>
        </p:txBody>
      </p:sp>
      <p:sp>
        <p:nvSpPr>
          <p:cNvPr id="14" name="Text 12"/>
          <p:cNvSpPr/>
          <p:nvPr/>
        </p:nvSpPr>
        <p:spPr>
          <a:xfrm>
            <a:off x="2717800" y="5161211"/>
            <a:ext cx="5337048" cy="330200"/>
          </a:xfrm>
          <a:prstGeom prst="rect">
            <a:avLst/>
          </a:prstGeom>
          <a:noFill/>
          <a:ln/>
        </p:spPr>
        <p:txBody>
          <a:bodyPr wrap="none" lIns="0" tIns="0" rIns="0" bIns="0" rtlCol="0" anchor="t">
            <a:normAutofit/>
          </a:bodyPr>
          <a:lstStyle/>
          <a:p>
            <a:pPr algn="l" indent="0" marL="0">
              <a:lnSpc>
                <a:spcPts val="2400"/>
              </a:lnSpc>
              <a:buNone/>
            </a:pPr>
            <a:r>
              <a:rPr lang="en-US" sz="1600" dirty="0">
                <a:solidFill>
                  <a:srgbClr val="E6EDF7"/>
                </a:solidFill>
                <a:latin typeface="JetBrains Mono" pitchFamily="49" charset="0"/>
                <a:ea typeface="JetBrains Mono" pitchFamily="49" charset="-122"/>
                <a:cs typeface="JetBrains Mono" pitchFamily="49" charset="-120"/>
              </a:rPr>
              <a:t>stack.append(nb)</a:t>
            </a:r>
            <a:endParaRPr lang="en-US" sz="1600" dirty="0"/>
          </a:p>
        </p:txBody>
      </p:sp>
      <p:sp>
        <p:nvSpPr>
          <p:cNvPr id="15" name="Text 13"/>
          <p:cNvSpPr/>
          <p:nvPr/>
        </p:nvSpPr>
        <p:spPr>
          <a:xfrm>
            <a:off x="8585200" y="193541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3D"/>
                </a:solidFill>
                <a:latin typeface="DM Sans" pitchFamily="34" charset="0"/>
                <a:ea typeface="DM Sans" pitchFamily="34" charset="-122"/>
                <a:cs typeface="DM Sans" pitchFamily="34" charset="-120"/>
              </a:rPr>
              <a:t>EXPLICIT STACK</a:t>
            </a:r>
            <a:endParaRPr lang="en-US" sz="1200" dirty="0"/>
          </a:p>
        </p:txBody>
      </p:sp>
      <p:sp>
        <p:nvSpPr>
          <p:cNvPr id="16" name="Text 14"/>
          <p:cNvSpPr/>
          <p:nvPr/>
        </p:nvSpPr>
        <p:spPr>
          <a:xfrm>
            <a:off x="8585200" y="2199531"/>
            <a:ext cx="28778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DM Sans" pitchFamily="34" charset="0"/>
                <a:ea typeface="DM Sans" pitchFamily="34" charset="-122"/>
                <a:cs typeface="DM Sans" pitchFamily="34" charset="-120"/>
              </a:rPr>
              <a:t>Replaces the call stack, so deep graphs do not hit a recursion limit.</a:t>
            </a:r>
            <a:endParaRPr lang="en-US" sz="1600" dirty="0"/>
          </a:p>
        </p:txBody>
      </p:sp>
      <p:sp>
        <p:nvSpPr>
          <p:cNvPr id="17" name="Text 15"/>
          <p:cNvSpPr/>
          <p:nvPr/>
        </p:nvSpPr>
        <p:spPr>
          <a:xfrm>
            <a:off x="8585200" y="330691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3D"/>
                </a:solidFill>
                <a:latin typeface="DM Sans" pitchFamily="34" charset="0"/>
                <a:ea typeface="DM Sans" pitchFamily="34" charset="-122"/>
                <a:cs typeface="DM Sans" pitchFamily="34" charset="-120"/>
              </a:rPr>
              <a:t>REVERSED</a:t>
            </a:r>
            <a:endParaRPr lang="en-US" sz="1200" dirty="0"/>
          </a:p>
        </p:txBody>
      </p:sp>
      <p:sp>
        <p:nvSpPr>
          <p:cNvPr id="18" name="Text 16"/>
          <p:cNvSpPr/>
          <p:nvPr/>
        </p:nvSpPr>
        <p:spPr>
          <a:xfrm>
            <a:off x="8585200" y="3571032"/>
            <a:ext cx="28778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DM Sans" pitchFamily="34" charset="0"/>
                <a:ea typeface="DM Sans" pitchFamily="34" charset="-122"/>
                <a:cs typeface="DM Sans" pitchFamily="34" charset="-120"/>
              </a:rPr>
              <a:t>Pushing neighbors in reverse keeps the same left-to-right visit order.</a:t>
            </a:r>
            <a:endParaRPr lang="en-US" sz="1600" dirty="0"/>
          </a:p>
        </p:txBody>
      </p:sp>
      <p:sp>
        <p:nvSpPr>
          <p:cNvPr id="19" name="Text 17"/>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8A6BA"/>
                </a:solidFill>
                <a:latin typeface="DM Sans" pitchFamily="34" charset="0"/>
                <a:ea typeface="DM Sans" pitchFamily="34" charset="-122"/>
                <a:cs typeface="DM Sans" pitchFamily="34" charset="-120"/>
              </a:rPr>
              <a:t>Depth First Search</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8A6BA"/>
                </a:solidFill>
                <a:latin typeface="DM Sans" pitchFamily="34" charset="0"/>
                <a:ea typeface="DM Sans" pitchFamily="34" charset="-122"/>
                <a:cs typeface="DM Sans" pitchFamily="34" charset="-120"/>
              </a:rPr>
              <a:t>6 / 10</a:t>
            </a:r>
            <a:endParaRPr lang="en-US" sz="1200" dirty="0"/>
          </a:p>
        </p:txBody>
      </p:sp>
      <p:sp>
        <p:nvSpPr>
          <p:cNvPr id="21" name="Text 19"/>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8A6BA">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DM Sans" pitchFamily="34" charset="0"/>
                <a:ea typeface="DM Sans" pitchFamily="34" charset="-122"/>
                <a:cs typeface="DM Sans" pitchFamily="34" charset="-120"/>
              </a:rPr>
              <a:t>ANALYSIS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Complexity</a:t>
            </a:r>
            <a:endParaRPr lang="en-US" sz="3600" dirty="0"/>
          </a:p>
        </p:txBody>
      </p:sp>
      <p:sp>
        <p:nvSpPr>
          <p:cNvPr id="4" name="Shape 2"/>
          <p:cNvSpPr/>
          <p:nvPr/>
        </p:nvSpPr>
        <p:spPr>
          <a:xfrm>
            <a:off x="819150" y="1941761"/>
            <a:ext cx="5168900" cy="2395141"/>
          </a:xfrm>
          <a:prstGeom prst="roundRect">
            <a:avLst>
              <a:gd name="adj" fmla="val 3977"/>
            </a:avLst>
          </a:prstGeom>
          <a:solidFill>
            <a:srgbClr val="FFFDF8"/>
          </a:solidFill>
          <a:ln w="12700">
            <a:solidFill>
              <a:srgbClr val="E2DFD3"/>
            </a:solidFill>
            <a:prstDash val="solid"/>
          </a:ln>
        </p:spPr>
      </p:sp>
      <p:sp>
        <p:nvSpPr>
          <p:cNvPr id="5" name="Text 3"/>
          <p:cNvSpPr/>
          <p:nvPr/>
        </p:nvSpPr>
        <p:spPr>
          <a:xfrm>
            <a:off x="1130300" y="2252911"/>
            <a:ext cx="468299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75569"/>
                </a:solidFill>
                <a:latin typeface="DM Sans" pitchFamily="34" charset="0"/>
                <a:ea typeface="DM Sans" pitchFamily="34" charset="-122"/>
                <a:cs typeface="DM Sans" pitchFamily="34" charset="-120"/>
              </a:rPr>
              <a:t>TIME</a:t>
            </a:r>
            <a:endParaRPr lang="en-US" sz="1200" dirty="0"/>
          </a:p>
        </p:txBody>
      </p:sp>
      <p:sp>
        <p:nvSpPr>
          <p:cNvPr id="6" name="Text 4"/>
          <p:cNvSpPr/>
          <p:nvPr/>
        </p:nvSpPr>
        <p:spPr>
          <a:xfrm>
            <a:off x="1130300" y="2542431"/>
            <a:ext cx="4682998" cy="863600"/>
          </a:xfrm>
          <a:prstGeom prst="rect">
            <a:avLst/>
          </a:prstGeom>
          <a:noFill/>
          <a:ln/>
        </p:spPr>
        <p:txBody>
          <a:bodyPr wrap="none" lIns="0" tIns="0" rIns="0" bIns="0" rtlCol="0" anchor="t">
            <a:normAutofit/>
          </a:bodyPr>
          <a:lstStyle/>
          <a:p>
            <a:pPr algn="l" indent="0" marL="0">
              <a:lnSpc>
                <a:spcPts val="6600"/>
              </a:lnSpc>
              <a:buNone/>
            </a:pPr>
            <a:r>
              <a:rPr lang="en-US" sz="6000" b="1" dirty="0">
                <a:solidFill>
                  <a:srgbClr val="0F766E"/>
                </a:solidFill>
                <a:latin typeface="JetBrains Mono" pitchFamily="49" charset="0"/>
                <a:ea typeface="JetBrains Mono" pitchFamily="49" charset="-122"/>
                <a:cs typeface="JetBrains Mono" pitchFamily="49" charset="-120"/>
              </a:rPr>
              <a:t>O(V + E)</a:t>
            </a:r>
            <a:endParaRPr lang="en-US" sz="6000" dirty="0"/>
          </a:p>
        </p:txBody>
      </p:sp>
      <p:sp>
        <p:nvSpPr>
          <p:cNvPr id="7" name="Text 5"/>
          <p:cNvSpPr/>
          <p:nvPr/>
        </p:nvSpPr>
        <p:spPr>
          <a:xfrm>
            <a:off x="1130300" y="3456831"/>
            <a:ext cx="4851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Every vertex and every edge is processed once.</a:t>
            </a:r>
            <a:endParaRPr lang="en-US" sz="1600" dirty="0"/>
          </a:p>
        </p:txBody>
      </p:sp>
      <p:sp>
        <p:nvSpPr>
          <p:cNvPr id="8" name="Shape 6"/>
          <p:cNvSpPr/>
          <p:nvPr/>
        </p:nvSpPr>
        <p:spPr>
          <a:xfrm>
            <a:off x="6203950" y="1941761"/>
            <a:ext cx="5168900" cy="2395141"/>
          </a:xfrm>
          <a:prstGeom prst="roundRect">
            <a:avLst>
              <a:gd name="adj" fmla="val 3977"/>
            </a:avLst>
          </a:prstGeom>
          <a:solidFill>
            <a:srgbClr val="FFFDF8"/>
          </a:solidFill>
          <a:ln w="12700">
            <a:solidFill>
              <a:srgbClr val="E2DFD3"/>
            </a:solidFill>
            <a:prstDash val="solid"/>
          </a:ln>
        </p:spPr>
      </p:sp>
      <p:sp>
        <p:nvSpPr>
          <p:cNvPr id="9" name="Text 7"/>
          <p:cNvSpPr/>
          <p:nvPr/>
        </p:nvSpPr>
        <p:spPr>
          <a:xfrm>
            <a:off x="6515100" y="2252911"/>
            <a:ext cx="468299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75569"/>
                </a:solidFill>
                <a:latin typeface="DM Sans" pitchFamily="34" charset="0"/>
                <a:ea typeface="DM Sans" pitchFamily="34" charset="-122"/>
                <a:cs typeface="DM Sans" pitchFamily="34" charset="-120"/>
              </a:rPr>
              <a:t>SPACE</a:t>
            </a:r>
            <a:endParaRPr lang="en-US" sz="1200" dirty="0"/>
          </a:p>
        </p:txBody>
      </p:sp>
      <p:sp>
        <p:nvSpPr>
          <p:cNvPr id="10" name="Text 8"/>
          <p:cNvSpPr/>
          <p:nvPr/>
        </p:nvSpPr>
        <p:spPr>
          <a:xfrm>
            <a:off x="6515100" y="2542431"/>
            <a:ext cx="4682998" cy="863600"/>
          </a:xfrm>
          <a:prstGeom prst="rect">
            <a:avLst/>
          </a:prstGeom>
          <a:noFill/>
          <a:ln/>
        </p:spPr>
        <p:txBody>
          <a:bodyPr wrap="none" lIns="0" tIns="0" rIns="0" bIns="0" rtlCol="0" anchor="t">
            <a:normAutofit/>
          </a:bodyPr>
          <a:lstStyle/>
          <a:p>
            <a:pPr algn="l" indent="0" marL="0">
              <a:lnSpc>
                <a:spcPts val="6600"/>
              </a:lnSpc>
              <a:buNone/>
            </a:pPr>
            <a:r>
              <a:rPr lang="en-US" sz="6000" b="1" dirty="0">
                <a:solidFill>
                  <a:srgbClr val="0F766E"/>
                </a:solidFill>
                <a:latin typeface="JetBrains Mono" pitchFamily="49" charset="0"/>
                <a:ea typeface="JetBrains Mono" pitchFamily="49" charset="-122"/>
                <a:cs typeface="JetBrains Mono" pitchFamily="49" charset="-120"/>
              </a:rPr>
              <a:t>O(V)</a:t>
            </a:r>
            <a:endParaRPr lang="en-US" sz="6000" dirty="0"/>
          </a:p>
        </p:txBody>
      </p:sp>
      <p:sp>
        <p:nvSpPr>
          <p:cNvPr id="11" name="Text 9"/>
          <p:cNvSpPr/>
          <p:nvPr/>
        </p:nvSpPr>
        <p:spPr>
          <a:xfrm>
            <a:off x="6515100" y="3456831"/>
            <a:ext cx="468299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The visited set plus the stack, which can reach V in the worst case.</a:t>
            </a:r>
            <a:endParaRPr lang="en-US" sz="1600" dirty="0"/>
          </a:p>
        </p:txBody>
      </p:sp>
      <p:sp>
        <p:nvSpPr>
          <p:cNvPr id="12" name="Text 10"/>
          <p:cNvSpPr/>
          <p:nvPr/>
        </p:nvSpPr>
        <p:spPr>
          <a:xfrm>
            <a:off x="812800" y="4648051"/>
            <a:ext cx="91567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V is the number of vertices and E is the number of edges.</a:t>
            </a:r>
            <a:endParaRPr lang="en-US" sz="1600" dirty="0"/>
          </a:p>
        </p:txBody>
      </p:sp>
      <p:sp>
        <p:nvSpPr>
          <p:cNvPr id="13" name="Text 1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Depth First Search</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7 / 10</a:t>
            </a:r>
            <a:endParaRPr lang="en-US" sz="1200" dirty="0"/>
          </a:p>
        </p:txBody>
      </p:sp>
      <p:sp>
        <p:nvSpPr>
          <p:cNvPr id="15" name="Text 13"/>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DM Sans" pitchFamily="34" charset="0"/>
                <a:ea typeface="DM Sans" pitchFamily="34" charset="-122"/>
                <a:cs typeface="DM Sans" pitchFamily="34" charset="-120"/>
              </a:rPr>
              <a:t>COMPARISON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DFS and BFS compared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636044"/>
        </p:xfrm>
        <a:graphic>
          <a:graphicData uri="http://schemas.openxmlformats.org/drawingml/2006/table">
            <a:tbl>
              <a:tblPr/>
              <a:tblGrid>
                <a:gridCol w="2955036"/>
                <a:gridCol w="3799332"/>
                <a:gridCol w="3799332"/>
              </a:tblGrid>
              <a:tr h="439341">
                <a:tc>
                  <a:txBody>
                    <a:bodyPr/>
                    <a:lstStyle/>
                    <a:p>
                      <a:pPr indent="0" marL="0">
                        <a:lnSpc>
                          <a:spcPts val="2240"/>
                        </a:lnSpc>
                        <a:buNone/>
                      </a:pPr>
                      <a:r>
                        <a:rPr lang="en-US" sz="1600" b="1" dirty="0">
                          <a:solidFill>
                            <a:srgbClr val="F6F4EE"/>
                          </a:solidFill>
                          <a:latin typeface="DM Sans" pitchFamily="34" charset="0"/>
                          <a:ea typeface="DM Sans" pitchFamily="34" charset="-122"/>
                          <a:cs typeface="DM Sans" pitchFamily="34" charset="-120"/>
                        </a:rPr>
                        <a:t>Aspect</a:t>
                      </a:r>
                      <a:endParaRPr lang="en-US" sz="1600" dirty="0">
                        <a:latin typeface="DM Sans" charset="0"/>
                        <a:ea typeface="DM Sans" charset="0"/>
                        <a:cs typeface="DM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tc>
                  <a:txBody>
                    <a:bodyPr/>
                    <a:lstStyle/>
                    <a:p>
                      <a:pPr indent="0" marL="0">
                        <a:lnSpc>
                          <a:spcPts val="2240"/>
                        </a:lnSpc>
                        <a:buNone/>
                      </a:pPr>
                      <a:r>
                        <a:rPr lang="en-US" sz="1600" b="1" dirty="0">
                          <a:solidFill>
                            <a:srgbClr val="F5B83D"/>
                          </a:solidFill>
                          <a:latin typeface="DM Sans" pitchFamily="34" charset="0"/>
                          <a:ea typeface="DM Sans" pitchFamily="34" charset="-122"/>
                          <a:cs typeface="DM Sans" pitchFamily="34" charset="-120"/>
                        </a:rPr>
                        <a:t>DFS</a:t>
                      </a:r>
                      <a:endParaRPr lang="en-US" sz="1600" dirty="0">
                        <a:latin typeface="DM Sans" charset="0"/>
                        <a:ea typeface="DM Sans" charset="0"/>
                        <a:cs typeface="DM Sans" charset="0"/>
                      </a:endParaRPr>
                    </a:p>
                  </a:txBody>
                  <a:tcPr marL="71120" marR="71120" marT="71120" marB="71120" anchor="t">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tc>
                  <a:txBody>
                    <a:bodyPr/>
                    <a:lstStyle/>
                    <a:p>
                      <a:pPr indent="0" marL="0">
                        <a:lnSpc>
                          <a:spcPts val="2240"/>
                        </a:lnSpc>
                        <a:buNone/>
                      </a:pPr>
                      <a:r>
                        <a:rPr lang="en-US" sz="1600" b="1" dirty="0">
                          <a:solidFill>
                            <a:srgbClr val="F6F4EE"/>
                          </a:solidFill>
                          <a:latin typeface="DM Sans" pitchFamily="34" charset="0"/>
                          <a:ea typeface="DM Sans" pitchFamily="34" charset="-122"/>
                          <a:cs typeface="DM Sans" pitchFamily="34" charset="-120"/>
                        </a:rPr>
                        <a:t>BFS</a:t>
                      </a:r>
                      <a:endParaRPr lang="en-US" sz="1600" dirty="0">
                        <a:latin typeface="DM Sans" charset="0"/>
                        <a:ea typeface="DM Sans" charset="0"/>
                        <a:cs typeface="DM Sans" charset="0"/>
                      </a:endParaRPr>
                    </a:p>
                  </a:txBody>
                  <a:tcPr marL="71120" marR="71120" marT="71120" marB="71120" anchor="t">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Data structure</a:t>
                      </a:r>
                      <a:endParaRPr lang="en-US" sz="1600" dirty="0">
                        <a:latin typeface="DM Sans" charset="0"/>
                        <a:ea typeface="DM Sans" charset="0"/>
                        <a:cs typeface="DM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Stack or recursion</a:t>
                      </a:r>
                      <a:endParaRPr lang="en-US" sz="1600" dirty="0">
                        <a:latin typeface="DM Sans" charset="0"/>
                        <a:ea typeface="DM Sans" charset="0"/>
                        <a:cs typeface="DM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Queue</a:t>
                      </a:r>
                      <a:endParaRPr lang="en-US" sz="1600" dirty="0">
                        <a:latin typeface="DM Sans" charset="0"/>
                        <a:ea typeface="DM Sans" charset="0"/>
                        <a:cs typeface="DM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Exploration</a:t>
                      </a:r>
                      <a:endParaRPr lang="en-US" sz="1600" dirty="0">
                        <a:latin typeface="DM Sans" charset="0"/>
                        <a:ea typeface="DM Sans" charset="0"/>
                        <a:cs typeface="DM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D"/>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Deep first, then backtrack</a:t>
                      </a:r>
                      <a:endParaRPr lang="en-US" sz="1600" dirty="0">
                        <a:latin typeface="DM Sans" charset="0"/>
                        <a:ea typeface="DM Sans" charset="0"/>
                        <a:cs typeface="DM Sans" charset="0"/>
                      </a:endParaRPr>
                    </a:p>
                  </a:txBody>
                  <a:tcPr marL="71120" marR="71120" marT="71120" marB="7112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D"/>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Level by level</a:t>
                      </a:r>
                      <a:endParaRPr lang="en-US" sz="1600" dirty="0">
                        <a:latin typeface="DM Sans" charset="0"/>
                        <a:ea typeface="DM Sans" charset="0"/>
                        <a:cs typeface="DM Sans" charset="0"/>
                      </a:endParaRPr>
                    </a:p>
                  </a:txBody>
                  <a:tcPr marL="71120" marR="71120" marT="71120" marB="7112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D"/>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Shortest path</a:t>
                      </a:r>
                      <a:endParaRPr lang="en-US" sz="1600" dirty="0">
                        <a:latin typeface="DM Sans" charset="0"/>
                        <a:ea typeface="DM Sans" charset="0"/>
                        <a:cs typeface="DM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Not guaranteed</a:t>
                      </a:r>
                      <a:endParaRPr lang="en-US" sz="1600" dirty="0">
                        <a:latin typeface="DM Sans" charset="0"/>
                        <a:ea typeface="DM Sans" charset="0"/>
                        <a:cs typeface="DM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Guaranteed (unweighted)</a:t>
                      </a:r>
                      <a:endParaRPr lang="en-US" sz="1600" dirty="0">
                        <a:latin typeface="DM Sans" charset="0"/>
                        <a:ea typeface="DM Sans" charset="0"/>
                        <a:cs typeface="DM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Memory</a:t>
                      </a:r>
                      <a:endParaRPr lang="en-US" sz="1600" dirty="0">
                        <a:latin typeface="DM Sans" charset="0"/>
                        <a:ea typeface="DM Sans" charset="0"/>
                        <a:cs typeface="DM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D"/>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Grows with path depth</a:t>
                      </a:r>
                      <a:endParaRPr lang="en-US" sz="1600" dirty="0">
                        <a:latin typeface="DM Sans" charset="0"/>
                        <a:ea typeface="DM Sans" charset="0"/>
                        <a:cs typeface="DM Sans" charset="0"/>
                      </a:endParaRPr>
                    </a:p>
                  </a:txBody>
                  <a:tcPr marL="71120" marR="71120" marT="71120" marB="7112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D"/>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Grows with frontier width</a:t>
                      </a:r>
                      <a:endParaRPr lang="en-US" sz="1600" dirty="0">
                        <a:latin typeface="DM Sans" charset="0"/>
                        <a:ea typeface="DM Sans" charset="0"/>
                        <a:cs typeface="DM Sans" charset="0"/>
                      </a:endParaRPr>
                    </a:p>
                  </a:txBody>
                  <a:tcPr marL="71120" marR="71120" marT="71120" marB="7112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D"/>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Best for</a:t>
                      </a:r>
                      <a:endParaRPr lang="en-US" sz="1600" dirty="0">
                        <a:latin typeface="DM Sans" charset="0"/>
                        <a:ea typeface="DM Sans" charset="0"/>
                        <a:cs typeface="DM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Cycles, ordering, mazes</a:t>
                      </a:r>
                      <a:endParaRPr lang="en-US" sz="1600" dirty="0">
                        <a:latin typeface="DM Sans" charset="0"/>
                        <a:ea typeface="DM Sans" charset="0"/>
                        <a:cs typeface="DM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Nearest nodes, short routes</a:t>
                      </a:r>
                      <a:endParaRPr lang="en-US" sz="1600" dirty="0">
                        <a:latin typeface="DM Sans" charset="0"/>
                        <a:ea typeface="DM Sans" charset="0"/>
                        <a:cs typeface="DM Sans" charset="0"/>
                      </a:endParaRPr>
                    </a:p>
                  </a:txBody>
                  <a:tcPr marL="71120" marR="71120" marT="71120" marB="7112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5" name="Text 2"/>
          <p:cNvSpPr/>
          <p:nvPr/>
        </p:nvSpPr>
        <p:spPr>
          <a:xfrm>
            <a:off x="812800" y="4888954"/>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569"/>
                </a:solidFill>
                <a:latin typeface="DM Sans" pitchFamily="34" charset="0"/>
                <a:ea typeface="DM Sans" pitchFamily="34" charset="-122"/>
                <a:cs typeface="DM Sans" pitchFamily="34" charset="-120"/>
              </a:rPr>
              <a:t>Both run in O(V + E) time. The difference is the order of exploration.</a:t>
            </a:r>
            <a:endParaRPr lang="en-US" sz="1600" dirty="0"/>
          </a:p>
        </p:txBody>
      </p:sp>
      <p:sp>
        <p:nvSpPr>
          <p:cNvPr id="6" name="Text 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Depth First Search</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8 / 10</a:t>
            </a:r>
            <a:endParaRPr lang="en-US" sz="1200" dirty="0"/>
          </a:p>
        </p:txBody>
      </p:sp>
      <p:sp>
        <p:nvSpPr>
          <p:cNvPr id="8" name="Text 5"/>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DM Sans" pitchFamily="34" charset="0"/>
                <a:ea typeface="DM Sans" pitchFamily="34" charset="-122"/>
                <a:cs typeface="DM Sans" pitchFamily="34" charset="-120"/>
              </a:rPr>
              <a:t>USE CASES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Applications</a:t>
            </a:r>
            <a:endParaRPr lang="en-US" sz="3600" dirty="0"/>
          </a:p>
        </p:txBody>
      </p:sp>
      <p:sp>
        <p:nvSpPr>
          <p:cNvPr id="4" name="Shape 2"/>
          <p:cNvSpPr/>
          <p:nvPr/>
        </p:nvSpPr>
        <p:spPr>
          <a:xfrm>
            <a:off x="819150" y="1941761"/>
            <a:ext cx="3373934" cy="1597571"/>
          </a:xfrm>
          <a:prstGeom prst="roundRect">
            <a:avLst>
              <a:gd name="adj" fmla="val 5962"/>
            </a:avLst>
          </a:prstGeom>
          <a:solidFill>
            <a:srgbClr val="FFFDF8"/>
          </a:solidFill>
          <a:ln w="12700">
            <a:solidFill>
              <a:srgbClr val="E2DFD3"/>
            </a:solidFill>
            <a:prstDash val="solid"/>
          </a:ln>
        </p:spPr>
      </p:sp>
      <p:pic>
        <p:nvPicPr>
          <p:cNvPr id="5" name="Image 0" descr="Search">    </p:cNvPr>
          <p:cNvPicPr>
            <a:picLocks noChangeAspect="1"/>
          </p:cNvPicPr>
          <p:nvPr/>
        </p:nvPicPr>
        <p:blipFill>
          <a:blip r:embed="rId1"/>
          <a:srcRect l="0" r="0" t="0" b="0"/>
          <a:stretch/>
        </p:blipFill>
        <p:spPr>
          <a:xfrm>
            <a:off x="1054100" y="2176711"/>
            <a:ext cx="304800" cy="304800"/>
          </a:xfrm>
          <a:prstGeom prst="rect">
            <a:avLst/>
          </a:prstGeom>
        </p:spPr>
      </p:pic>
      <p:sp>
        <p:nvSpPr>
          <p:cNvPr id="6" name="Text 3"/>
          <p:cNvSpPr/>
          <p:nvPr/>
        </p:nvSpPr>
        <p:spPr>
          <a:xfrm>
            <a:off x="1054100" y="2557711"/>
            <a:ext cx="29911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Path finding</a:t>
            </a:r>
            <a:endParaRPr lang="en-US" sz="1600" dirty="0"/>
          </a:p>
        </p:txBody>
      </p:sp>
      <p:sp>
        <p:nvSpPr>
          <p:cNvPr id="7" name="Text 4"/>
          <p:cNvSpPr/>
          <p:nvPr/>
        </p:nvSpPr>
        <p:spPr>
          <a:xfrm>
            <a:off x="1054100" y="2877741"/>
            <a:ext cx="29911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DM Sans" pitchFamily="34" charset="0"/>
                <a:ea typeface="DM Sans" pitchFamily="34" charset="-122"/>
                <a:cs typeface="DM Sans" pitchFamily="34" charset="-120"/>
              </a:rPr>
              <a:t>Find a route between two nodes, as in a maze.</a:t>
            </a:r>
            <a:endParaRPr lang="en-US" sz="1200" dirty="0"/>
          </a:p>
        </p:txBody>
      </p:sp>
      <p:sp>
        <p:nvSpPr>
          <p:cNvPr id="8" name="Shape 5"/>
          <p:cNvSpPr/>
          <p:nvPr/>
        </p:nvSpPr>
        <p:spPr>
          <a:xfrm>
            <a:off x="4408984" y="1941761"/>
            <a:ext cx="3373983" cy="1597571"/>
          </a:xfrm>
          <a:prstGeom prst="roundRect">
            <a:avLst>
              <a:gd name="adj" fmla="val 5962"/>
            </a:avLst>
          </a:prstGeom>
          <a:solidFill>
            <a:srgbClr val="FFFDF8"/>
          </a:solidFill>
          <a:ln w="12700">
            <a:solidFill>
              <a:srgbClr val="E2DFD3"/>
            </a:solidFill>
            <a:prstDash val="solid"/>
          </a:ln>
        </p:spPr>
      </p:sp>
      <p:pic>
        <p:nvPicPr>
          <p:cNvPr id="9" name="Image 1" descr="Warning">    </p:cNvPr>
          <p:cNvPicPr>
            <a:picLocks noChangeAspect="1"/>
          </p:cNvPicPr>
          <p:nvPr/>
        </p:nvPicPr>
        <p:blipFill>
          <a:blip r:embed="rId2"/>
          <a:srcRect l="0" r="0" t="0" b="0"/>
          <a:stretch/>
        </p:blipFill>
        <p:spPr>
          <a:xfrm>
            <a:off x="4643934" y="2176711"/>
            <a:ext cx="304800" cy="304800"/>
          </a:xfrm>
          <a:prstGeom prst="rect">
            <a:avLst/>
          </a:prstGeom>
        </p:spPr>
      </p:pic>
      <p:sp>
        <p:nvSpPr>
          <p:cNvPr id="10" name="Text 6"/>
          <p:cNvSpPr/>
          <p:nvPr/>
        </p:nvSpPr>
        <p:spPr>
          <a:xfrm>
            <a:off x="4643934" y="2557711"/>
            <a:ext cx="29912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Cycle detection</a:t>
            </a:r>
            <a:endParaRPr lang="en-US" sz="1600" dirty="0"/>
          </a:p>
        </p:txBody>
      </p:sp>
      <p:sp>
        <p:nvSpPr>
          <p:cNvPr id="11" name="Text 7"/>
          <p:cNvSpPr/>
          <p:nvPr/>
        </p:nvSpPr>
        <p:spPr>
          <a:xfrm>
            <a:off x="4643934" y="2877741"/>
            <a:ext cx="29912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DM Sans" pitchFamily="34" charset="0"/>
                <a:ea typeface="DM Sans" pitchFamily="34" charset="-122"/>
                <a:cs typeface="DM Sans" pitchFamily="34" charset="-120"/>
              </a:rPr>
              <a:t>Spot circular dependencies in graphs.</a:t>
            </a:r>
            <a:endParaRPr lang="en-US" sz="1200" dirty="0"/>
          </a:p>
        </p:txBody>
      </p:sp>
      <p:sp>
        <p:nvSpPr>
          <p:cNvPr id="12" name="Shape 8"/>
          <p:cNvSpPr/>
          <p:nvPr/>
        </p:nvSpPr>
        <p:spPr>
          <a:xfrm>
            <a:off x="7998867" y="1941761"/>
            <a:ext cx="3373934" cy="1597571"/>
          </a:xfrm>
          <a:prstGeom prst="roundRect">
            <a:avLst>
              <a:gd name="adj" fmla="val 5962"/>
            </a:avLst>
          </a:prstGeom>
          <a:solidFill>
            <a:srgbClr val="FFFDF8"/>
          </a:solidFill>
          <a:ln w="12700">
            <a:solidFill>
              <a:srgbClr val="E2DFD3"/>
            </a:solidFill>
            <a:prstDash val="solid"/>
          </a:ln>
        </p:spPr>
      </p:sp>
      <p:pic>
        <p:nvPicPr>
          <p:cNvPr id="13" name="Image 2" descr="Clock">    </p:cNvPr>
          <p:cNvPicPr>
            <a:picLocks noChangeAspect="1"/>
          </p:cNvPicPr>
          <p:nvPr/>
        </p:nvPicPr>
        <p:blipFill>
          <a:blip r:embed="rId3"/>
          <a:srcRect l="0" r="0" t="0" b="0"/>
          <a:stretch/>
        </p:blipFill>
        <p:spPr>
          <a:xfrm>
            <a:off x="8233817" y="2176711"/>
            <a:ext cx="304800" cy="304800"/>
          </a:xfrm>
          <a:prstGeom prst="rect">
            <a:avLst/>
          </a:prstGeom>
        </p:spPr>
      </p:pic>
      <p:sp>
        <p:nvSpPr>
          <p:cNvPr id="14" name="Text 9"/>
          <p:cNvSpPr/>
          <p:nvPr/>
        </p:nvSpPr>
        <p:spPr>
          <a:xfrm>
            <a:off x="8233817" y="2557711"/>
            <a:ext cx="29911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Topological sort</a:t>
            </a:r>
            <a:endParaRPr lang="en-US" sz="1600" dirty="0"/>
          </a:p>
        </p:txBody>
      </p:sp>
      <p:sp>
        <p:nvSpPr>
          <p:cNvPr id="15" name="Text 10"/>
          <p:cNvSpPr/>
          <p:nvPr/>
        </p:nvSpPr>
        <p:spPr>
          <a:xfrm>
            <a:off x="8233817" y="2877741"/>
            <a:ext cx="29911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DM Sans" pitchFamily="34" charset="0"/>
                <a:ea typeface="DM Sans" pitchFamily="34" charset="-122"/>
                <a:cs typeface="DM Sans" pitchFamily="34" charset="-120"/>
              </a:rPr>
              <a:t>Order tasks so every dependency comes first.</a:t>
            </a:r>
            <a:endParaRPr lang="en-US" sz="1200" dirty="0"/>
          </a:p>
        </p:txBody>
      </p:sp>
      <p:sp>
        <p:nvSpPr>
          <p:cNvPr id="16" name="Shape 11"/>
          <p:cNvSpPr/>
          <p:nvPr/>
        </p:nvSpPr>
        <p:spPr>
          <a:xfrm>
            <a:off x="819150" y="3755231"/>
            <a:ext cx="3373934" cy="1597571"/>
          </a:xfrm>
          <a:prstGeom prst="roundRect">
            <a:avLst>
              <a:gd name="adj" fmla="val 5962"/>
            </a:avLst>
          </a:prstGeom>
          <a:solidFill>
            <a:srgbClr val="FFFDF8"/>
          </a:solidFill>
          <a:ln w="12700">
            <a:solidFill>
              <a:srgbClr val="E2DFD3"/>
            </a:solidFill>
            <a:prstDash val="solid"/>
          </a:ln>
        </p:spPr>
      </p:sp>
      <p:pic>
        <p:nvPicPr>
          <p:cNvPr id="17" name="Image 3" descr="Users">    </p:cNvPr>
          <p:cNvPicPr>
            <a:picLocks noChangeAspect="1"/>
          </p:cNvPicPr>
          <p:nvPr/>
        </p:nvPicPr>
        <p:blipFill>
          <a:blip r:embed="rId4"/>
          <a:srcRect l="0" r="0" t="0" b="0"/>
          <a:stretch/>
        </p:blipFill>
        <p:spPr>
          <a:xfrm>
            <a:off x="1054100" y="3990181"/>
            <a:ext cx="304800" cy="304800"/>
          </a:xfrm>
          <a:prstGeom prst="rect">
            <a:avLst/>
          </a:prstGeom>
        </p:spPr>
      </p:pic>
      <p:sp>
        <p:nvSpPr>
          <p:cNvPr id="18" name="Text 12"/>
          <p:cNvSpPr/>
          <p:nvPr/>
        </p:nvSpPr>
        <p:spPr>
          <a:xfrm>
            <a:off x="1054100" y="4371181"/>
            <a:ext cx="29911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Connected components</a:t>
            </a:r>
            <a:endParaRPr lang="en-US" sz="1600" dirty="0"/>
          </a:p>
        </p:txBody>
      </p:sp>
      <p:sp>
        <p:nvSpPr>
          <p:cNvPr id="19" name="Text 13"/>
          <p:cNvSpPr/>
          <p:nvPr/>
        </p:nvSpPr>
        <p:spPr>
          <a:xfrm>
            <a:off x="1054100" y="4691211"/>
            <a:ext cx="31326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DM Sans" pitchFamily="34" charset="0"/>
                <a:ea typeface="DM Sans" pitchFamily="34" charset="-122"/>
                <a:cs typeface="DM Sans" pitchFamily="34" charset="-120"/>
              </a:rPr>
              <a:t>Group nodes that can reach one another.</a:t>
            </a:r>
            <a:endParaRPr lang="en-US" sz="1200" dirty="0"/>
          </a:p>
        </p:txBody>
      </p:sp>
      <p:sp>
        <p:nvSpPr>
          <p:cNvPr id="20" name="Shape 14"/>
          <p:cNvSpPr/>
          <p:nvPr/>
        </p:nvSpPr>
        <p:spPr>
          <a:xfrm>
            <a:off x="4408984" y="3755231"/>
            <a:ext cx="3373983" cy="1597571"/>
          </a:xfrm>
          <a:prstGeom prst="roundRect">
            <a:avLst>
              <a:gd name="adj" fmla="val 5962"/>
            </a:avLst>
          </a:prstGeom>
          <a:solidFill>
            <a:srgbClr val="FFFDF8"/>
          </a:solidFill>
          <a:ln w="12700">
            <a:solidFill>
              <a:srgbClr val="E2DFD3"/>
            </a:solidFill>
            <a:prstDash val="solid"/>
          </a:ln>
        </p:spPr>
      </p:sp>
      <p:pic>
        <p:nvPicPr>
          <p:cNvPr id="21" name="Image 4" descr="Globe">    </p:cNvPr>
          <p:cNvPicPr>
            <a:picLocks noChangeAspect="1"/>
          </p:cNvPicPr>
          <p:nvPr/>
        </p:nvPicPr>
        <p:blipFill>
          <a:blip r:embed="rId5"/>
          <a:srcRect l="0" r="0" t="0" b="0"/>
          <a:stretch/>
        </p:blipFill>
        <p:spPr>
          <a:xfrm>
            <a:off x="4643934" y="3990181"/>
            <a:ext cx="304800" cy="304800"/>
          </a:xfrm>
          <a:prstGeom prst="rect">
            <a:avLst/>
          </a:prstGeom>
        </p:spPr>
      </p:pic>
      <p:sp>
        <p:nvSpPr>
          <p:cNvPr id="22" name="Text 15"/>
          <p:cNvSpPr/>
          <p:nvPr/>
        </p:nvSpPr>
        <p:spPr>
          <a:xfrm>
            <a:off x="4643934" y="4371181"/>
            <a:ext cx="29912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Web crawling</a:t>
            </a:r>
            <a:endParaRPr lang="en-US" sz="1600" dirty="0"/>
          </a:p>
        </p:txBody>
      </p:sp>
      <p:sp>
        <p:nvSpPr>
          <p:cNvPr id="23" name="Text 16"/>
          <p:cNvSpPr/>
          <p:nvPr/>
        </p:nvSpPr>
        <p:spPr>
          <a:xfrm>
            <a:off x="4643934" y="4691211"/>
            <a:ext cx="29912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DM Sans" pitchFamily="34" charset="0"/>
                <a:ea typeface="DM Sans" pitchFamily="34" charset="-122"/>
                <a:cs typeface="DM Sans" pitchFamily="34" charset="-120"/>
              </a:rPr>
              <a:t>Follow links deep into a site before moving on.</a:t>
            </a:r>
            <a:endParaRPr lang="en-US" sz="1200" dirty="0"/>
          </a:p>
        </p:txBody>
      </p:sp>
      <p:sp>
        <p:nvSpPr>
          <p:cNvPr id="24" name="Shape 17"/>
          <p:cNvSpPr/>
          <p:nvPr/>
        </p:nvSpPr>
        <p:spPr>
          <a:xfrm>
            <a:off x="7998867" y="3755231"/>
            <a:ext cx="3373934" cy="1597571"/>
          </a:xfrm>
          <a:prstGeom prst="roundRect">
            <a:avLst>
              <a:gd name="adj" fmla="val 5962"/>
            </a:avLst>
          </a:prstGeom>
          <a:solidFill>
            <a:srgbClr val="FFFDF8"/>
          </a:solidFill>
          <a:ln w="12700">
            <a:solidFill>
              <a:srgbClr val="E2DFD3"/>
            </a:solidFill>
            <a:prstDash val="solid"/>
          </a:ln>
        </p:spPr>
      </p:sp>
      <p:pic>
        <p:nvPicPr>
          <p:cNvPr id="25" name="Image 5" descr="Lightbulb">    </p:cNvPr>
          <p:cNvPicPr>
            <a:picLocks noChangeAspect="1"/>
          </p:cNvPicPr>
          <p:nvPr/>
        </p:nvPicPr>
        <p:blipFill>
          <a:blip r:embed="rId6"/>
          <a:srcRect l="0" r="0" t="0" b="0"/>
          <a:stretch/>
        </p:blipFill>
        <p:spPr>
          <a:xfrm>
            <a:off x="8233817" y="3990181"/>
            <a:ext cx="304800" cy="304800"/>
          </a:xfrm>
          <a:prstGeom prst="rect">
            <a:avLst/>
          </a:prstGeom>
        </p:spPr>
      </p:pic>
      <p:sp>
        <p:nvSpPr>
          <p:cNvPr id="26" name="Text 18"/>
          <p:cNvSpPr/>
          <p:nvPr/>
        </p:nvSpPr>
        <p:spPr>
          <a:xfrm>
            <a:off x="8233817" y="4371181"/>
            <a:ext cx="29911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Backtracking puzzles</a:t>
            </a:r>
            <a:endParaRPr lang="en-US" sz="1600" dirty="0"/>
          </a:p>
        </p:txBody>
      </p:sp>
      <p:sp>
        <p:nvSpPr>
          <p:cNvPr id="27" name="Text 19"/>
          <p:cNvSpPr/>
          <p:nvPr/>
        </p:nvSpPr>
        <p:spPr>
          <a:xfrm>
            <a:off x="8233817" y="4691211"/>
            <a:ext cx="29911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DM Sans" pitchFamily="34" charset="0"/>
                <a:ea typeface="DM Sans" pitchFamily="34" charset="-122"/>
                <a:cs typeface="DM Sans" pitchFamily="34" charset="-120"/>
              </a:rPr>
              <a:t>Solve Sudoku, N-Queens and similar puzzles.</a:t>
            </a:r>
            <a:endParaRPr lang="en-US" sz="1200" dirty="0"/>
          </a:p>
        </p:txBody>
      </p:sp>
      <p:sp>
        <p:nvSpPr>
          <p:cNvPr id="28" name="Text 20"/>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Depth First Search</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9 / 10</a:t>
            </a:r>
            <a:endParaRPr lang="en-US" sz="1200" dirty="0"/>
          </a:p>
        </p:txBody>
      </p:sp>
      <p:sp>
        <p:nvSpPr>
          <p:cNvPr id="30" name="Text 22"/>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alpha val="7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766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6F4EE"/>
                </a:solidFill>
                <a:latin typeface="DM Sans" pitchFamily="34" charset="0"/>
                <a:ea typeface="DM Sans" pitchFamily="34" charset="-122"/>
                <a:cs typeface="DM Sans" pitchFamily="34" charset="-120"/>
              </a:rPr>
              <a:t>RECAP</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DM Sans" pitchFamily="34" charset="0"/>
                <a:ea typeface="DM Sans" pitchFamily="34" charset="-122"/>
                <a:cs typeface="DM Sans" pitchFamily="34" charset="-120"/>
              </a:rPr>
              <a:t>Key takeaways</a:t>
            </a:r>
            <a:endParaRPr lang="en-US" sz="3600" dirty="0"/>
          </a:p>
        </p:txBody>
      </p:sp>
      <p:sp>
        <p:nvSpPr>
          <p:cNvPr id="4" name="Shape 2"/>
          <p:cNvSpPr/>
          <p:nvPr/>
        </p:nvSpPr>
        <p:spPr>
          <a:xfrm>
            <a:off x="812800" y="1941761"/>
            <a:ext cx="10566400" cy="0"/>
          </a:xfrm>
          <a:prstGeom prst="line">
            <a:avLst/>
          </a:prstGeom>
          <a:noFill/>
          <a:ln w="12700">
            <a:solidFill>
              <a:srgbClr val="5FB3AA"/>
            </a:solidFill>
            <a:prstDash val="solid"/>
          </a:ln>
        </p:spPr>
      </p:sp>
      <p:sp>
        <p:nvSpPr>
          <p:cNvPr id="5" name="Text 3"/>
          <p:cNvSpPr/>
          <p:nvPr/>
        </p:nvSpPr>
        <p:spPr>
          <a:xfrm>
            <a:off x="812800" y="2151311"/>
            <a:ext cx="55880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5B83D"/>
                </a:solidFill>
                <a:latin typeface="DM Sans" pitchFamily="34" charset="0"/>
                <a:ea typeface="DM Sans" pitchFamily="34" charset="-122"/>
                <a:cs typeface="DM Sans" pitchFamily="34" charset="-120"/>
              </a:rPr>
              <a:t>1</a:t>
            </a:r>
            <a:endParaRPr lang="en-US" sz="3600" dirty="0"/>
          </a:p>
        </p:txBody>
      </p:sp>
      <p:sp>
        <p:nvSpPr>
          <p:cNvPr id="6" name="Text 4"/>
          <p:cNvSpPr/>
          <p:nvPr/>
        </p:nvSpPr>
        <p:spPr>
          <a:xfrm>
            <a:off x="1574800" y="2221161"/>
            <a:ext cx="6601658"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DM Sans" pitchFamily="34" charset="0"/>
                <a:ea typeface="DM Sans" pitchFamily="34" charset="-122"/>
                <a:cs typeface="DM Sans" pitchFamily="34" charset="-120"/>
              </a:rPr>
              <a:t>Go deep first, then backtrack when stuck.</a:t>
            </a:r>
            <a:endParaRPr lang="en-US" sz="2200" dirty="0"/>
          </a:p>
        </p:txBody>
      </p:sp>
      <p:sp>
        <p:nvSpPr>
          <p:cNvPr id="7" name="Shape 5"/>
          <p:cNvSpPr/>
          <p:nvPr/>
        </p:nvSpPr>
        <p:spPr>
          <a:xfrm>
            <a:off x="812800" y="2863751"/>
            <a:ext cx="10566400" cy="0"/>
          </a:xfrm>
          <a:prstGeom prst="line">
            <a:avLst/>
          </a:prstGeom>
          <a:noFill/>
          <a:ln w="12700">
            <a:solidFill>
              <a:srgbClr val="5FB3AA"/>
            </a:solidFill>
            <a:prstDash val="solid"/>
          </a:ln>
        </p:spPr>
      </p:sp>
      <p:sp>
        <p:nvSpPr>
          <p:cNvPr id="8" name="Text 6"/>
          <p:cNvSpPr/>
          <p:nvPr/>
        </p:nvSpPr>
        <p:spPr>
          <a:xfrm>
            <a:off x="812800" y="3073301"/>
            <a:ext cx="55880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5B83D"/>
                </a:solidFill>
                <a:latin typeface="DM Sans" pitchFamily="34" charset="0"/>
                <a:ea typeface="DM Sans" pitchFamily="34" charset="-122"/>
                <a:cs typeface="DM Sans" pitchFamily="34" charset="-120"/>
              </a:rPr>
              <a:t>2</a:t>
            </a:r>
            <a:endParaRPr lang="en-US" sz="3600" dirty="0"/>
          </a:p>
        </p:txBody>
      </p:sp>
      <p:sp>
        <p:nvSpPr>
          <p:cNvPr id="9" name="Text 7"/>
          <p:cNvSpPr/>
          <p:nvPr/>
        </p:nvSpPr>
        <p:spPr>
          <a:xfrm>
            <a:off x="1574800" y="3143151"/>
            <a:ext cx="7901166"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DM Sans" pitchFamily="34" charset="0"/>
                <a:ea typeface="DM Sans" pitchFamily="34" charset="-122"/>
                <a:cs typeface="DM Sans" pitchFamily="34" charset="-120"/>
              </a:rPr>
              <a:t>Keep a visited set so cycles never trap the search.</a:t>
            </a:r>
            <a:endParaRPr lang="en-US" sz="2200" dirty="0"/>
          </a:p>
        </p:txBody>
      </p:sp>
      <p:sp>
        <p:nvSpPr>
          <p:cNvPr id="10" name="Shape 8"/>
          <p:cNvSpPr/>
          <p:nvPr/>
        </p:nvSpPr>
        <p:spPr>
          <a:xfrm>
            <a:off x="812800" y="3785741"/>
            <a:ext cx="10566400" cy="0"/>
          </a:xfrm>
          <a:prstGeom prst="line">
            <a:avLst/>
          </a:prstGeom>
          <a:noFill/>
          <a:ln w="12700">
            <a:solidFill>
              <a:srgbClr val="5FB3AA"/>
            </a:solidFill>
            <a:prstDash val="solid"/>
          </a:ln>
        </p:spPr>
      </p:sp>
      <p:sp>
        <p:nvSpPr>
          <p:cNvPr id="11" name="Text 9"/>
          <p:cNvSpPr/>
          <p:nvPr/>
        </p:nvSpPr>
        <p:spPr>
          <a:xfrm>
            <a:off x="812800" y="3995291"/>
            <a:ext cx="55880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5B83D"/>
                </a:solidFill>
                <a:latin typeface="DM Sans" pitchFamily="34" charset="0"/>
                <a:ea typeface="DM Sans" pitchFamily="34" charset="-122"/>
                <a:cs typeface="DM Sans" pitchFamily="34" charset="-120"/>
              </a:rPr>
              <a:t>3</a:t>
            </a:r>
            <a:endParaRPr lang="en-US" sz="3600" dirty="0"/>
          </a:p>
        </p:txBody>
      </p:sp>
      <p:sp>
        <p:nvSpPr>
          <p:cNvPr id="12" name="Text 10"/>
          <p:cNvSpPr/>
          <p:nvPr/>
        </p:nvSpPr>
        <p:spPr>
          <a:xfrm>
            <a:off x="1574800" y="4065141"/>
            <a:ext cx="7528917"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DM Sans" pitchFamily="34" charset="0"/>
                <a:ea typeface="DM Sans" pitchFamily="34" charset="-122"/>
                <a:cs typeface="DM Sans" pitchFamily="34" charset="-120"/>
              </a:rPr>
              <a:t>Runs in O(V + E) time using recursion or a stack.</a:t>
            </a:r>
            <a:endParaRPr lang="en-US" sz="2200" dirty="0"/>
          </a:p>
        </p:txBody>
      </p:sp>
      <p:sp>
        <p:nvSpPr>
          <p:cNvPr id="13" name="Text 11"/>
          <p:cNvSpPr/>
          <p:nvPr/>
        </p:nvSpPr>
        <p:spPr>
          <a:xfrm>
            <a:off x="812800" y="5006181"/>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DM Sans" pitchFamily="34" charset="0"/>
                <a:ea typeface="DM Sans" pitchFamily="34" charset="-122"/>
                <a:cs typeface="DM Sans" pitchFamily="34" charset="-120"/>
              </a:rPr>
              <a:t>Next step: practice DFS on trees, grids and adjacency lists.</a:t>
            </a:r>
            <a:endParaRPr lang="en-US" sz="1600" dirty="0"/>
          </a:p>
        </p:txBody>
      </p:sp>
      <p:sp>
        <p:nvSpPr>
          <p:cNvPr id="14" name="Text 1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DM Sans" pitchFamily="34" charset="0"/>
                <a:ea typeface="DM Sans" pitchFamily="34" charset="-122"/>
                <a:cs typeface="DM Sans" pitchFamily="34" charset="-120"/>
              </a:rPr>
              <a:t>Depth First Search</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solidFill>
                <a:latin typeface="DM Sans" pitchFamily="34" charset="0"/>
                <a:ea typeface="DM Sans" pitchFamily="34" charset="-122"/>
                <a:cs typeface="DM Sans" pitchFamily="34" charset="-120"/>
              </a:rPr>
              <a:t>10 / 10</a:t>
            </a:r>
            <a:endParaRPr lang="en-US" sz="1200" dirty="0"/>
          </a:p>
        </p:txBody>
      </p:sp>
      <p:sp>
        <p:nvSpPr>
          <p:cNvPr id="16" name="Text 14"/>
          <p:cNvSpPr/>
          <p:nvPr/>
        </p:nvSpPr>
        <p:spPr>
          <a:xfrm>
            <a:off x="8763000" y="4064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6F4EE">
                    <a:alpha val="80000"/>
                  </a:srgbClr>
                </a:solidFill>
                <a:latin typeface="DM Sans" pitchFamily="34" charset="0"/>
                <a:ea typeface="DM Sans" pitchFamily="34" charset="-122"/>
                <a:cs typeface="DM Sans" pitchFamily="34" charset="-120"/>
              </a:rPr>
              <a:t>Made with Claude</a:t>
            </a:r>
            <a:endParaRPr lang="en-US" sz="1200" dirty="0"/>
          </a:p>
        </p:txBody>
      </p:sp>
    </p:spTree>
  </p:cSld>
  <p:clrMapOvr>
    <a:masterClrMapping/>
  </p:clrMapOvr>
</p:sld>
</file>

<file path=ppt/theme/theme1.xml><?xml version="1.0" encoding="utf-8"?>
<a:theme xmlns:a="http://schemas.openxmlformats.org/drawingml/2006/main" name="Depth First Search (DFS)">
  <a:themeElements>
    <a:clrScheme name="Depth First Search (DFS)">
      <a:dk1>
        <a:srgbClr val="14213D"/>
      </a:dk1>
      <a:lt1>
        <a:srgbClr val="F6F4EE"/>
      </a:lt1>
      <a:dk2>
        <a:srgbClr val="4D5669"/>
      </a:dk2>
      <a:lt2>
        <a:srgbClr val="DFDFDC"/>
      </a:lt2>
      <a:accent1>
        <a:srgbClr val="F5B83D"/>
      </a:accent1>
      <a:accent2>
        <a:srgbClr val="0F766E"/>
      </a:accent2>
      <a:accent3>
        <a:srgbClr val="475569"/>
      </a:accent3>
      <a:accent4>
        <a:srgbClr val="5B6472"/>
      </a:accent4>
      <a:accent5>
        <a:srgbClr val="98A6BA"/>
      </a:accent5>
      <a:accent6>
        <a:srgbClr val="D5DEEA"/>
      </a:accent6>
      <a:hlink>
        <a:srgbClr val="0563C1"/>
      </a:hlink>
      <a:folHlink>
        <a:srgbClr val="954F72"/>
      </a:folHlink>
    </a:clrScheme>
    <a:fontScheme name="Depth First Search (DF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Depth First Search (DFS)</dc:title>
  <dc:subject/>
  <dc:creator/>
  <cp:lastModifiedBy/>
  <cp:revision>1</cp:revision>
  <dcterms:created xsi:type="dcterms:W3CDTF">2026-10-16T23:14:02Z</dcterms:created>
  <dcterms:modified xsi:type="dcterms:W3CDTF">2026-10-16T23:14:02Z</dcterms:modified>
</cp:coreProperties>
</file>